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515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I'm &lt;name&gt;. For my COSC 3320 final project I built a local Python + Flask app that scrapes UTPB's catalog, registrar, and academic calendar and turns them into a working term planner. I'll show the architecture, the database, and then a short live demo. Total time: about 10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features in one tour. The Schedule and Planner pages are the two I'll spend the most time on in the live demo. Catalog, Profile, and Progress all hang off the same SQLite database with a JSON API.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scrapers feed one SQLite file. Flask reads from that same file, which keeps everything in one place. The frontend is plain HTML and vanilla JS — no React, no Jinja templating. The AI advisor is the only network dependency at runtime, and the endpoint falls back to rule-based advice when no API key is configured.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short lists. The most interesting choice on the left is that the scrapers use the standard library only — no requests, no BeautifulSoup. On the right, no JS framework: the frontend is intentionally small so a Python-class grader can read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eight tables live in one SQLite file. Catalog data and app data co-exist on purpose — backups are a single file copy. The catalog scraper only touches the courses table, so re-running scrapers never wipes a user account or saved schedule.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 be on the app for the next 4 minutes. The path is on the slide as a safety net — if anything goes wrong I jump to the next step. Watch for the conflict warning on Schedule and the graduation forecast on Planner; those are the two moments that show the data is actually wired up.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design choices I want to call out. First, conflict detection knows that the two 8-week sessions don't overlap, so I don't get bogus warnings when stacking a first-half and second-half class. Second, the AI advisor degrades gracefully — no key just means the user gets local rule-based advice. That keeps the demo deterministic.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test files cover the parts of the app most likely to break silently — prereq parsing, the planner overview, scenarios, degree progress, accounts, and program-requirement scraping. The right side calls out the data-safety guarantees: scrapers don't wipe the database, and transcripts never touch disk.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columns: what worked, what didn't, and what I'd do next. The recurring theme is that I traded scrape robustness for transparency — every scraper is short enough to read in a sitting. The biggest follow-up is a tolerant HTML parser layer so a registrar redesign doesn't take the app down.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Rectangle 1"/>
          <p:cNvSpPr/>
          <p:nvPr/>
        </p:nvSpPr>
        <p:spPr>
          <a:xfrm>
            <a:off x="548640" y="2377440"/>
            <a:ext cx="73152" cy="2194560"/>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377440"/>
            <a:ext cx="6400800" cy="365760"/>
          </a:xfrm>
          <a:prstGeom prst="rect">
            <a:avLst/>
          </a:prstGeom>
          <a:noFill/>
        </p:spPr>
        <p:txBody>
          <a:bodyPr wrap="square" lIns="45720" tIns="0" rIns="45720" bIns="0" anchor="t">
            <a:spAutoFit/>
          </a:bodyPr>
          <a:lstStyle/>
          <a:p>
            <a:pPr algn="l"/>
            <a:r>
              <a:rPr sz="1200" b="1" i="0">
                <a:solidFill>
                  <a:srgbClr val="E8562A"/>
                </a:solidFill>
                <a:latin typeface="Segoe UI"/>
              </a:rPr>
              <a:t>COSC 3320 · FINAL PROJECT</a:t>
            </a:r>
          </a:p>
        </p:txBody>
      </p:sp>
      <p:sp>
        <p:nvSpPr>
          <p:cNvPr id="4" name="TextBox 3"/>
          <p:cNvSpPr txBox="1"/>
          <p:nvPr/>
        </p:nvSpPr>
        <p:spPr>
          <a:xfrm>
            <a:off x="777240" y="2788920"/>
            <a:ext cx="7315200" cy="822960"/>
          </a:xfrm>
          <a:prstGeom prst="rect">
            <a:avLst/>
          </a:prstGeom>
          <a:noFill/>
        </p:spPr>
        <p:txBody>
          <a:bodyPr wrap="square" lIns="45720" tIns="0" rIns="45720" bIns="0" anchor="t">
            <a:spAutoFit/>
          </a:bodyPr>
          <a:lstStyle/>
          <a:p>
            <a:pPr algn="l"/>
            <a:r>
              <a:rPr sz="4400" b="1" i="0">
                <a:solidFill>
                  <a:srgbClr val="E2E8F0"/>
                </a:solidFill>
                <a:latin typeface="Segoe UI"/>
              </a:rPr>
              <a:t>UTPB Course Scraper</a:t>
            </a:r>
          </a:p>
        </p:txBody>
      </p:sp>
      <p:sp>
        <p:nvSpPr>
          <p:cNvPr id="5" name="TextBox 4"/>
          <p:cNvSpPr txBox="1"/>
          <p:nvPr/>
        </p:nvSpPr>
        <p:spPr>
          <a:xfrm>
            <a:off x="777240" y="3520440"/>
            <a:ext cx="7315200" cy="822960"/>
          </a:xfrm>
          <a:prstGeom prst="rect">
            <a:avLst/>
          </a:prstGeom>
          <a:noFill/>
        </p:spPr>
        <p:txBody>
          <a:bodyPr wrap="square" lIns="45720" tIns="0" rIns="45720" bIns="0" anchor="t">
            <a:spAutoFit/>
          </a:bodyPr>
          <a:lstStyle/>
          <a:p>
            <a:pPr algn="l"/>
            <a:r>
              <a:rPr sz="4400" b="1" i="0">
                <a:solidFill>
                  <a:srgbClr val="E8562A"/>
                </a:solidFill>
                <a:latin typeface="Segoe UI"/>
              </a:rPr>
              <a:t>&amp; Scheduler</a:t>
            </a:r>
          </a:p>
        </p:txBody>
      </p:sp>
      <p:sp>
        <p:nvSpPr>
          <p:cNvPr id="6" name="TextBox 5"/>
          <p:cNvSpPr txBox="1"/>
          <p:nvPr/>
        </p:nvSpPr>
        <p:spPr>
          <a:xfrm>
            <a:off x="777240" y="4434840"/>
            <a:ext cx="7315200" cy="914400"/>
          </a:xfrm>
          <a:prstGeom prst="rect">
            <a:avLst/>
          </a:prstGeom>
          <a:noFill/>
        </p:spPr>
        <p:txBody>
          <a:bodyPr wrap="square" lIns="45720" tIns="0" rIns="45720" bIns="0" anchor="t">
            <a:spAutoFit/>
          </a:bodyPr>
          <a:lstStyle/>
          <a:p>
            <a:pPr algn="l"/>
            <a:r>
              <a:rPr sz="1600" b="0" i="0">
                <a:solidFill>
                  <a:srgbClr val="E2E8F0"/>
                </a:solidFill>
                <a:latin typeface="Segoe UI"/>
              </a:rPr>
              <a:t>A local Python + Flask app that scrapes UTPB course data
and turns it into a working term planner.</a:t>
            </a:r>
          </a:p>
        </p:txBody>
      </p:sp>
      <p:sp>
        <p:nvSpPr>
          <p:cNvPr id="7" name="TextBox 6"/>
          <p:cNvSpPr txBox="1"/>
          <p:nvPr/>
        </p:nvSpPr>
        <p:spPr>
          <a:xfrm>
            <a:off x="777240" y="5852160"/>
            <a:ext cx="7315200" cy="365760"/>
          </a:xfrm>
          <a:prstGeom prst="rect">
            <a:avLst/>
          </a:prstGeom>
          <a:noFill/>
        </p:spPr>
        <p:txBody>
          <a:bodyPr wrap="square" lIns="45720" tIns="0" rIns="45720" bIns="0" anchor="t">
            <a:spAutoFit/>
          </a:bodyPr>
          <a:lstStyle/>
          <a:p>
            <a:pPr algn="l"/>
            <a:r>
              <a:rPr sz="1400" b="0" i="0">
                <a:solidFill>
                  <a:srgbClr val="8899AA"/>
                </a:solidFill>
                <a:latin typeface="Segoe UI"/>
              </a:rPr>
              <a:t>Your Name  ·  Spring 2026</a:t>
            </a:r>
          </a:p>
        </p:txBody>
      </p:sp>
      <p:sp>
        <p:nvSpPr>
          <p:cNvPr id="8" name="Rectangle 7"/>
          <p:cNvSpPr/>
          <p:nvPr/>
        </p:nvSpPr>
        <p:spPr>
          <a:xfrm>
            <a:off x="7680960" y="1371600"/>
            <a:ext cx="4023360" cy="411480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Hero screenshot:
Schedule page weekly grid</a:t>
            </a:r>
          </a:p>
        </p:txBody>
      </p:sp>
      <p:pic>
        <p:nvPicPr>
          <p:cNvPr id="15" name="Picture 14">
            <a:extLst>
              <a:ext uri="{FF2B5EF4-FFF2-40B4-BE49-F238E27FC236}">
                <a16:creationId xmlns:a16="http://schemas.microsoft.com/office/drawing/2014/main" id="{D6CDCB37-0D95-30B0-7F0D-F9C73FA33DE0}"/>
              </a:ext>
            </a:extLst>
          </p:cNvPr>
          <p:cNvPicPr>
            <a:picLocks noChangeAspect="1"/>
          </p:cNvPicPr>
          <p:nvPr/>
        </p:nvPicPr>
        <p:blipFill>
          <a:blip r:embed="rId3"/>
          <a:srcRect l="27612"/>
          <a:stretch>
            <a:fillRect/>
          </a:stretch>
        </p:blipFill>
        <p:spPr>
          <a:xfrm>
            <a:off x="7680960" y="1371600"/>
            <a:ext cx="4155288" cy="4114800"/>
          </a:xfrm>
          <a:prstGeom prst="rect">
            <a:avLst/>
          </a:prstGeom>
        </p:spPr>
      </p:pic>
      <p:pic>
        <p:nvPicPr>
          <p:cNvPr id="17" name="Picture 16">
            <a:extLst>
              <a:ext uri="{FF2B5EF4-FFF2-40B4-BE49-F238E27FC236}">
                <a16:creationId xmlns:a16="http://schemas.microsoft.com/office/drawing/2014/main" id="{8D390909-4CB7-0C7B-8DC6-42E95143E3A5}"/>
              </a:ext>
            </a:extLst>
          </p:cNvPr>
          <p:cNvPicPr>
            <a:picLocks noChangeAspect="1"/>
          </p:cNvPicPr>
          <p:nvPr/>
        </p:nvPicPr>
        <p:blipFill>
          <a:blip r:embed="rId4"/>
          <a:stretch>
            <a:fillRect/>
          </a:stretch>
        </p:blipFill>
        <p:spPr>
          <a:xfrm>
            <a:off x="6690360" y="441960"/>
            <a:ext cx="1981200" cy="1981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FEATURE TOUR</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What it does</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63040"/>
            <a:ext cx="2087209"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13232" y="1645920"/>
            <a:ext cx="1758025" cy="146304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Schedule builder
screenshot</a:t>
            </a:r>
          </a:p>
        </p:txBody>
      </p:sp>
      <p:sp>
        <p:nvSpPr>
          <p:cNvPr id="7" name="Rectangle 6"/>
          <p:cNvSpPr/>
          <p:nvPr/>
        </p:nvSpPr>
        <p:spPr>
          <a:xfrm>
            <a:off x="713232" y="324612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3364992"/>
            <a:ext cx="1758025" cy="411480"/>
          </a:xfrm>
          <a:prstGeom prst="rect">
            <a:avLst/>
          </a:prstGeom>
          <a:noFill/>
        </p:spPr>
        <p:txBody>
          <a:bodyPr wrap="square" lIns="45720" tIns="0" rIns="45720" bIns="0" anchor="t">
            <a:spAutoFit/>
          </a:bodyPr>
          <a:lstStyle/>
          <a:p>
            <a:pPr algn="l"/>
            <a:r>
              <a:rPr sz="1500" b="1" i="0">
                <a:solidFill>
                  <a:srgbClr val="0A1628"/>
                </a:solidFill>
                <a:latin typeface="Segoe UI"/>
              </a:rPr>
              <a:t>Schedule builder</a:t>
            </a:r>
          </a:p>
        </p:txBody>
      </p:sp>
      <p:sp>
        <p:nvSpPr>
          <p:cNvPr id="9" name="TextBox 8"/>
          <p:cNvSpPr txBox="1"/>
          <p:nvPr/>
        </p:nvSpPr>
        <p:spPr>
          <a:xfrm>
            <a:off x="713232" y="3822192"/>
            <a:ext cx="1758025" cy="1828800"/>
          </a:xfrm>
          <a:prstGeom prst="rect">
            <a:avLst/>
          </a:prstGeom>
          <a:noFill/>
        </p:spPr>
        <p:txBody>
          <a:bodyPr wrap="square" lIns="45720" tIns="0" rIns="45720" bIns="0" anchor="t">
            <a:spAutoFit/>
          </a:bodyPr>
          <a:lstStyle/>
          <a:p>
            <a:pPr algn="l"/>
            <a:r>
              <a:rPr sz="1100" b="0" i="0">
                <a:solidFill>
                  <a:srgbClr val="2C3E52"/>
                </a:solidFill>
                <a:latin typeface="Segoe UI"/>
              </a:rPr>
              <a:t>Search/filter sections, drop them on a weekly grid. Conflict + prereq warnings.</a:t>
            </a:r>
          </a:p>
        </p:txBody>
      </p:sp>
      <p:sp>
        <p:nvSpPr>
          <p:cNvPr id="10" name="Rectangle 9"/>
          <p:cNvSpPr/>
          <p:nvPr/>
        </p:nvSpPr>
        <p:spPr>
          <a:xfrm>
            <a:off x="2800441" y="1463040"/>
            <a:ext cx="2087209"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65033" y="1645920"/>
            <a:ext cx="1758025" cy="146304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Catalog + wishlist
screenshot</a:t>
            </a:r>
          </a:p>
        </p:txBody>
      </p:sp>
      <p:sp>
        <p:nvSpPr>
          <p:cNvPr id="12" name="Rectangle 11"/>
          <p:cNvSpPr/>
          <p:nvPr/>
        </p:nvSpPr>
        <p:spPr>
          <a:xfrm>
            <a:off x="2965033" y="324612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65033" y="3364992"/>
            <a:ext cx="1758025" cy="411480"/>
          </a:xfrm>
          <a:prstGeom prst="rect">
            <a:avLst/>
          </a:prstGeom>
          <a:noFill/>
        </p:spPr>
        <p:txBody>
          <a:bodyPr wrap="square" lIns="45720" tIns="0" rIns="45720" bIns="0" anchor="t">
            <a:spAutoFit/>
          </a:bodyPr>
          <a:lstStyle/>
          <a:p>
            <a:pPr algn="l"/>
            <a:r>
              <a:rPr sz="1500" b="1" i="0">
                <a:solidFill>
                  <a:srgbClr val="0A1628"/>
                </a:solidFill>
                <a:latin typeface="Segoe UI"/>
              </a:rPr>
              <a:t>Catalog + wishlist</a:t>
            </a:r>
          </a:p>
        </p:txBody>
      </p:sp>
      <p:sp>
        <p:nvSpPr>
          <p:cNvPr id="14" name="TextBox 13"/>
          <p:cNvSpPr txBox="1"/>
          <p:nvPr/>
        </p:nvSpPr>
        <p:spPr>
          <a:xfrm>
            <a:off x="2965033" y="3822192"/>
            <a:ext cx="1758025" cy="1828800"/>
          </a:xfrm>
          <a:prstGeom prst="rect">
            <a:avLst/>
          </a:prstGeom>
          <a:noFill/>
        </p:spPr>
        <p:txBody>
          <a:bodyPr wrap="square" lIns="45720" tIns="0" rIns="45720" bIns="0" anchor="t">
            <a:spAutoFit/>
          </a:bodyPr>
          <a:lstStyle/>
          <a:p>
            <a:pPr algn="l"/>
            <a:r>
              <a:rPr sz="1100" b="0" i="0">
                <a:solidFill>
                  <a:srgbClr val="2C3E52"/>
                </a:solidFill>
                <a:latin typeface="Segoe UI"/>
              </a:rPr>
              <a:t>Browse all courses with subject/level/term filters. Save courses to your wishlist.</a:t>
            </a:r>
          </a:p>
        </p:txBody>
      </p:sp>
      <p:sp>
        <p:nvSpPr>
          <p:cNvPr id="15" name="Rectangle 14"/>
          <p:cNvSpPr/>
          <p:nvPr/>
        </p:nvSpPr>
        <p:spPr>
          <a:xfrm>
            <a:off x="5052242" y="1463040"/>
            <a:ext cx="2087209"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6834" y="1645920"/>
            <a:ext cx="1758025" cy="146304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Transcript import
screenshot</a:t>
            </a:r>
          </a:p>
        </p:txBody>
      </p:sp>
      <p:sp>
        <p:nvSpPr>
          <p:cNvPr id="17" name="Rectangle 16"/>
          <p:cNvSpPr/>
          <p:nvPr/>
        </p:nvSpPr>
        <p:spPr>
          <a:xfrm>
            <a:off x="5216834" y="324612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6834" y="3364992"/>
            <a:ext cx="1758025" cy="411480"/>
          </a:xfrm>
          <a:prstGeom prst="rect">
            <a:avLst/>
          </a:prstGeom>
          <a:noFill/>
        </p:spPr>
        <p:txBody>
          <a:bodyPr wrap="square" lIns="45720" tIns="0" rIns="45720" bIns="0" anchor="t">
            <a:spAutoFit/>
          </a:bodyPr>
          <a:lstStyle/>
          <a:p>
            <a:pPr algn="l"/>
            <a:r>
              <a:rPr sz="1500" b="1" i="0">
                <a:solidFill>
                  <a:srgbClr val="0A1628"/>
                </a:solidFill>
                <a:latin typeface="Segoe UI"/>
              </a:rPr>
              <a:t>Transcript import</a:t>
            </a:r>
          </a:p>
        </p:txBody>
      </p:sp>
      <p:sp>
        <p:nvSpPr>
          <p:cNvPr id="19" name="TextBox 18"/>
          <p:cNvSpPr txBox="1"/>
          <p:nvPr/>
        </p:nvSpPr>
        <p:spPr>
          <a:xfrm>
            <a:off x="5216834" y="3822192"/>
            <a:ext cx="1758025" cy="1828800"/>
          </a:xfrm>
          <a:prstGeom prst="rect">
            <a:avLst/>
          </a:prstGeom>
          <a:noFill/>
        </p:spPr>
        <p:txBody>
          <a:bodyPr wrap="square" lIns="45720" tIns="0" rIns="45720" bIns="0" anchor="t">
            <a:spAutoFit/>
          </a:bodyPr>
          <a:lstStyle/>
          <a:p>
            <a:pPr algn="l"/>
            <a:r>
              <a:rPr sz="1100" b="0" i="0">
                <a:solidFill>
                  <a:srgbClr val="2C3E52"/>
                </a:solidFill>
                <a:latin typeface="Segoe UI"/>
              </a:rPr>
              <a:t>Upload a UTPB PDF. Parsed in memory with pypdf — never written to disk.</a:t>
            </a:r>
          </a:p>
        </p:txBody>
      </p:sp>
      <p:sp>
        <p:nvSpPr>
          <p:cNvPr id="20" name="Rectangle 19"/>
          <p:cNvSpPr/>
          <p:nvPr/>
        </p:nvSpPr>
        <p:spPr>
          <a:xfrm>
            <a:off x="7304043" y="1463040"/>
            <a:ext cx="2087209"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468635" y="1645920"/>
            <a:ext cx="1758025" cy="146304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Degree progress
screenshot</a:t>
            </a:r>
          </a:p>
        </p:txBody>
      </p:sp>
      <p:sp>
        <p:nvSpPr>
          <p:cNvPr id="22" name="Rectangle 21"/>
          <p:cNvSpPr/>
          <p:nvPr/>
        </p:nvSpPr>
        <p:spPr>
          <a:xfrm>
            <a:off x="7468635" y="324612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68635" y="3364992"/>
            <a:ext cx="1758025" cy="411480"/>
          </a:xfrm>
          <a:prstGeom prst="rect">
            <a:avLst/>
          </a:prstGeom>
          <a:noFill/>
        </p:spPr>
        <p:txBody>
          <a:bodyPr wrap="square" lIns="45720" tIns="0" rIns="45720" bIns="0" anchor="t">
            <a:spAutoFit/>
          </a:bodyPr>
          <a:lstStyle/>
          <a:p>
            <a:pPr algn="l"/>
            <a:r>
              <a:rPr sz="1500" b="1" i="0">
                <a:solidFill>
                  <a:srgbClr val="0A1628"/>
                </a:solidFill>
                <a:latin typeface="Segoe UI"/>
              </a:rPr>
              <a:t>Degree progress</a:t>
            </a:r>
          </a:p>
        </p:txBody>
      </p:sp>
      <p:sp>
        <p:nvSpPr>
          <p:cNvPr id="24" name="TextBox 23"/>
          <p:cNvSpPr txBox="1"/>
          <p:nvPr/>
        </p:nvSpPr>
        <p:spPr>
          <a:xfrm>
            <a:off x="7468635" y="3822192"/>
            <a:ext cx="1758025" cy="1828800"/>
          </a:xfrm>
          <a:prstGeom prst="rect">
            <a:avLst/>
          </a:prstGeom>
          <a:noFill/>
        </p:spPr>
        <p:txBody>
          <a:bodyPr wrap="square" lIns="45720" tIns="0" rIns="45720" bIns="0" anchor="t">
            <a:spAutoFit/>
          </a:bodyPr>
          <a:lstStyle/>
          <a:p>
            <a:pPr algn="l"/>
            <a:r>
              <a:rPr sz="1100" b="0" i="0">
                <a:solidFill>
                  <a:srgbClr val="2C3E52"/>
                </a:solidFill>
                <a:latin typeface="Segoe UI"/>
              </a:rPr>
              <a:t>Completed / in-progress / remaining cards with a manual override flow.</a:t>
            </a:r>
          </a:p>
        </p:txBody>
      </p:sp>
      <p:sp>
        <p:nvSpPr>
          <p:cNvPr id="25" name="Rectangle 24"/>
          <p:cNvSpPr/>
          <p:nvPr/>
        </p:nvSpPr>
        <p:spPr>
          <a:xfrm>
            <a:off x="9555844" y="1463040"/>
            <a:ext cx="2087209" cy="45720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720436" y="1645920"/>
            <a:ext cx="1758025" cy="146304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Planner + AI advisor
screenshot</a:t>
            </a:r>
          </a:p>
        </p:txBody>
      </p:sp>
      <p:sp>
        <p:nvSpPr>
          <p:cNvPr id="27" name="Rectangle 26"/>
          <p:cNvSpPr/>
          <p:nvPr/>
        </p:nvSpPr>
        <p:spPr>
          <a:xfrm>
            <a:off x="9720436" y="324612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20436" y="3364992"/>
            <a:ext cx="1758025" cy="411480"/>
          </a:xfrm>
          <a:prstGeom prst="rect">
            <a:avLst/>
          </a:prstGeom>
          <a:noFill/>
        </p:spPr>
        <p:txBody>
          <a:bodyPr wrap="square" lIns="45720" tIns="0" rIns="45720" bIns="0" anchor="t">
            <a:spAutoFit/>
          </a:bodyPr>
          <a:lstStyle/>
          <a:p>
            <a:pPr algn="l"/>
            <a:r>
              <a:rPr sz="1500" b="1" i="0">
                <a:solidFill>
                  <a:srgbClr val="0A1628"/>
                </a:solidFill>
                <a:latin typeface="Segoe UI"/>
              </a:rPr>
              <a:t>Planner + AI advisor</a:t>
            </a:r>
          </a:p>
        </p:txBody>
      </p:sp>
      <p:sp>
        <p:nvSpPr>
          <p:cNvPr id="29" name="TextBox 28"/>
          <p:cNvSpPr txBox="1"/>
          <p:nvPr/>
        </p:nvSpPr>
        <p:spPr>
          <a:xfrm>
            <a:off x="9720436" y="3822192"/>
            <a:ext cx="1758025" cy="1828800"/>
          </a:xfrm>
          <a:prstGeom prst="rect">
            <a:avLst/>
          </a:prstGeom>
          <a:noFill/>
        </p:spPr>
        <p:txBody>
          <a:bodyPr wrap="square" lIns="45720" tIns="0" rIns="45720" bIns="0" anchor="t">
            <a:spAutoFit/>
          </a:bodyPr>
          <a:lstStyle/>
          <a:p>
            <a:pPr algn="l"/>
            <a:r>
              <a:rPr sz="1100" b="0" i="0">
                <a:solidFill>
                  <a:srgbClr val="2C3E52"/>
                </a:solidFill>
                <a:latin typeface="Segoe UI"/>
              </a:rPr>
              <a:t>Multi-term roll-up, graduation forecast, .ics export, optional Anthropic advice.</a:t>
            </a:r>
          </a:p>
        </p:txBody>
      </p:sp>
      <p:sp>
        <p:nvSpPr>
          <p:cNvPr id="30" name="TextBox 29"/>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3 / 10</a:t>
            </a:r>
          </a:p>
        </p:txBody>
      </p:sp>
      <p:sp>
        <p:nvSpPr>
          <p:cNvPr id="31" name="TextBox 30"/>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pic>
        <p:nvPicPr>
          <p:cNvPr id="2050" name="Picture 2" descr="Perfect design icon of ai idea 46282076 Vector Art at Vecteezy">
            <a:extLst>
              <a:ext uri="{FF2B5EF4-FFF2-40B4-BE49-F238E27FC236}">
                <a16:creationId xmlns:a16="http://schemas.microsoft.com/office/drawing/2014/main" id="{583F1C77-4AAC-E7B0-1B75-19D6F0ACAC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0496" y="1618488"/>
            <a:ext cx="1517904" cy="151790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Modern Academic Progress Icon for Assessment 57076360 Vector Art at ...">
            <a:extLst>
              <a:ext uri="{FF2B5EF4-FFF2-40B4-BE49-F238E27FC236}">
                <a16:creationId xmlns:a16="http://schemas.microsoft.com/office/drawing/2014/main" id="{D308A969-783C-A32C-8A50-E7D376A6D7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7387" y="1632204"/>
            <a:ext cx="1572768" cy="15727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pload Document with pdf format file concept illustration flat design ...">
            <a:extLst>
              <a:ext uri="{FF2B5EF4-FFF2-40B4-BE49-F238E27FC236}">
                <a16:creationId xmlns:a16="http://schemas.microsoft.com/office/drawing/2014/main" id="{8A8FC7D5-0441-DEFE-43EE-802648C995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7562" y="1629156"/>
            <a:ext cx="1496568" cy="149656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atalog Logo Stock Illustrations – 12,307 Catalog Logo Stock Illustrations,  Vectors &amp; Clipart - Dreamstime">
            <a:extLst>
              <a:ext uri="{FF2B5EF4-FFF2-40B4-BE49-F238E27FC236}">
                <a16:creationId xmlns:a16="http://schemas.microsoft.com/office/drawing/2014/main" id="{E71D57B3-A931-B17D-7DCE-2EB0908363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6645" y="1584452"/>
            <a:ext cx="1574800" cy="15748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FA257998-57E7-A7F5-6308-9CFB3B68A57E}"/>
              </a:ext>
            </a:extLst>
          </p:cNvPr>
          <p:cNvPicPr>
            <a:picLocks noChangeAspect="1"/>
          </p:cNvPicPr>
          <p:nvPr/>
        </p:nvPicPr>
        <p:blipFill>
          <a:blip r:embed="rId7"/>
          <a:srcRect r="10623"/>
          <a:stretch>
            <a:fillRect/>
          </a:stretch>
        </p:blipFill>
        <p:spPr>
          <a:xfrm>
            <a:off x="833600" y="1652133"/>
            <a:ext cx="1528600" cy="15329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HOW IT FITS TOGETHER</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System architecture</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17320"/>
            <a:ext cx="1371600" cy="34747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17320"/>
            <a:ext cx="1371600" cy="411480"/>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1371600" cy="411480"/>
          </a:xfrm>
          <a:prstGeom prst="rect">
            <a:avLst/>
          </a:prstGeom>
          <a:noFill/>
        </p:spPr>
        <p:txBody>
          <a:bodyPr wrap="square" lIns="45720" tIns="0" rIns="45720" bIns="0" anchor="ctr">
            <a:spAutoFit/>
          </a:bodyPr>
          <a:lstStyle/>
          <a:p>
            <a:pPr algn="ctr"/>
            <a:r>
              <a:rPr sz="1200" b="1" i="0">
                <a:solidFill>
                  <a:srgbClr val="E2E8F0"/>
                </a:solidFill>
                <a:latin typeface="Segoe UI"/>
              </a:rPr>
              <a:t>UTPB Sources</a:t>
            </a:r>
          </a:p>
        </p:txBody>
      </p:sp>
      <p:pic>
        <p:nvPicPr>
          <p:cNvPr id="8" name="Picture 7" descr="site_smartcatalog.png"/>
          <p:cNvPicPr>
            <a:picLocks noChangeAspect="1"/>
          </p:cNvPicPr>
          <p:nvPr/>
        </p:nvPicPr>
        <p:blipFill>
          <a:blip r:embed="rId3"/>
          <a:stretch>
            <a:fillRect/>
          </a:stretch>
        </p:blipFill>
        <p:spPr>
          <a:xfrm>
            <a:off x="621792" y="2048256"/>
            <a:ext cx="201168" cy="201168"/>
          </a:xfrm>
          <a:prstGeom prst="rect">
            <a:avLst/>
          </a:prstGeom>
        </p:spPr>
      </p:pic>
      <p:sp>
        <p:nvSpPr>
          <p:cNvPr id="9" name="TextBox 8"/>
          <p:cNvSpPr txBox="1"/>
          <p:nvPr/>
        </p:nvSpPr>
        <p:spPr>
          <a:xfrm>
            <a:off x="877824" y="1920240"/>
            <a:ext cx="996696" cy="457200"/>
          </a:xfrm>
          <a:prstGeom prst="rect">
            <a:avLst/>
          </a:prstGeom>
          <a:noFill/>
        </p:spPr>
        <p:txBody>
          <a:bodyPr wrap="square" lIns="45720" tIns="0" rIns="45720" bIns="0" anchor="ctr">
            <a:spAutoFit/>
          </a:bodyPr>
          <a:lstStyle/>
          <a:p>
            <a:pPr algn="l"/>
            <a:r>
              <a:rPr sz="900" b="0" i="0">
                <a:solidFill>
                  <a:srgbClr val="2C3E52"/>
                </a:solidFill>
                <a:latin typeface="Consolas"/>
              </a:rPr>
              <a:t>SmartCatalog</a:t>
            </a:r>
          </a:p>
        </p:txBody>
      </p:sp>
      <p:pic>
        <p:nvPicPr>
          <p:cNvPr id="10" name="Picture 9" descr="site_utpb.png"/>
          <p:cNvPicPr>
            <a:picLocks noChangeAspect="1"/>
          </p:cNvPicPr>
          <p:nvPr/>
        </p:nvPicPr>
        <p:blipFill>
          <a:blip r:embed="rId4"/>
          <a:stretch>
            <a:fillRect/>
          </a:stretch>
        </p:blipFill>
        <p:spPr>
          <a:xfrm>
            <a:off x="621792" y="2505456"/>
            <a:ext cx="201168" cy="201168"/>
          </a:xfrm>
          <a:prstGeom prst="rect">
            <a:avLst/>
          </a:prstGeom>
        </p:spPr>
      </p:pic>
      <p:sp>
        <p:nvSpPr>
          <p:cNvPr id="11" name="TextBox 10"/>
          <p:cNvSpPr txBox="1"/>
          <p:nvPr/>
        </p:nvSpPr>
        <p:spPr>
          <a:xfrm>
            <a:off x="877824" y="2377440"/>
            <a:ext cx="996696" cy="457200"/>
          </a:xfrm>
          <a:prstGeom prst="rect">
            <a:avLst/>
          </a:prstGeom>
          <a:noFill/>
        </p:spPr>
        <p:txBody>
          <a:bodyPr wrap="square" lIns="45720" tIns="0" rIns="45720" bIns="0" anchor="ctr">
            <a:spAutoFit/>
          </a:bodyPr>
          <a:lstStyle/>
          <a:p>
            <a:pPr algn="l"/>
            <a:r>
              <a:rPr sz="900" b="0" i="0">
                <a:solidFill>
                  <a:srgbClr val="2C3E52"/>
                </a:solidFill>
                <a:latin typeface="Consolas"/>
              </a:rPr>
              <a:t>Registrar</a:t>
            </a:r>
          </a:p>
        </p:txBody>
      </p:sp>
      <p:pic>
        <p:nvPicPr>
          <p:cNvPr id="12" name="Picture 11" descr="site_utpb.png"/>
          <p:cNvPicPr>
            <a:picLocks noChangeAspect="1"/>
          </p:cNvPicPr>
          <p:nvPr/>
        </p:nvPicPr>
        <p:blipFill>
          <a:blip r:embed="rId4"/>
          <a:stretch>
            <a:fillRect/>
          </a:stretch>
        </p:blipFill>
        <p:spPr>
          <a:xfrm>
            <a:off x="621792" y="2962656"/>
            <a:ext cx="201168" cy="201168"/>
          </a:xfrm>
          <a:prstGeom prst="rect">
            <a:avLst/>
          </a:prstGeom>
        </p:spPr>
      </p:pic>
      <p:sp>
        <p:nvSpPr>
          <p:cNvPr id="13" name="TextBox 12"/>
          <p:cNvSpPr txBox="1"/>
          <p:nvPr/>
        </p:nvSpPr>
        <p:spPr>
          <a:xfrm>
            <a:off x="877824" y="2834640"/>
            <a:ext cx="996696" cy="457200"/>
          </a:xfrm>
          <a:prstGeom prst="rect">
            <a:avLst/>
          </a:prstGeom>
          <a:noFill/>
        </p:spPr>
        <p:txBody>
          <a:bodyPr wrap="square" lIns="45720" tIns="0" rIns="45720" bIns="0" anchor="ctr">
            <a:spAutoFit/>
          </a:bodyPr>
          <a:lstStyle/>
          <a:p>
            <a:pPr algn="l"/>
            <a:r>
              <a:rPr sz="900" b="0" i="0">
                <a:solidFill>
                  <a:srgbClr val="2C3E52"/>
                </a:solidFill>
                <a:latin typeface="Consolas"/>
              </a:rPr>
              <a:t>Academic Cal.</a:t>
            </a:r>
          </a:p>
        </p:txBody>
      </p:sp>
      <p:pic>
        <p:nvPicPr>
          <p:cNvPr id="14" name="Picture 13" descr="site_utpb.png"/>
          <p:cNvPicPr>
            <a:picLocks noChangeAspect="1"/>
          </p:cNvPicPr>
          <p:nvPr/>
        </p:nvPicPr>
        <p:blipFill>
          <a:blip r:embed="rId4"/>
          <a:stretch>
            <a:fillRect/>
          </a:stretch>
        </p:blipFill>
        <p:spPr>
          <a:xfrm>
            <a:off x="621792" y="3419856"/>
            <a:ext cx="201168" cy="201168"/>
          </a:xfrm>
          <a:prstGeom prst="rect">
            <a:avLst/>
          </a:prstGeom>
        </p:spPr>
      </p:pic>
      <p:sp>
        <p:nvSpPr>
          <p:cNvPr id="15" name="TextBox 14"/>
          <p:cNvSpPr txBox="1"/>
          <p:nvPr/>
        </p:nvSpPr>
        <p:spPr>
          <a:xfrm>
            <a:off x="877824" y="3291840"/>
            <a:ext cx="996696" cy="457200"/>
          </a:xfrm>
          <a:prstGeom prst="rect">
            <a:avLst/>
          </a:prstGeom>
          <a:noFill/>
        </p:spPr>
        <p:txBody>
          <a:bodyPr wrap="square" lIns="45720" tIns="0" rIns="45720" bIns="0" anchor="ctr">
            <a:spAutoFit/>
          </a:bodyPr>
          <a:lstStyle/>
          <a:p>
            <a:pPr algn="l"/>
            <a:r>
              <a:rPr sz="900" b="0" i="0">
                <a:solidFill>
                  <a:srgbClr val="2C3E52"/>
                </a:solidFill>
                <a:latin typeface="Consolas"/>
              </a:rPr>
              <a:t>Falcon Maps</a:t>
            </a:r>
          </a:p>
        </p:txBody>
      </p:sp>
      <p:sp>
        <p:nvSpPr>
          <p:cNvPr id="16" name="Rectangle 15"/>
          <p:cNvSpPr/>
          <p:nvPr/>
        </p:nvSpPr>
        <p:spPr>
          <a:xfrm>
            <a:off x="2171700" y="1417320"/>
            <a:ext cx="1371600" cy="34747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71700" y="1417320"/>
            <a:ext cx="1371600" cy="411480"/>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71700" y="1417320"/>
            <a:ext cx="1371600" cy="411480"/>
          </a:xfrm>
          <a:prstGeom prst="rect">
            <a:avLst/>
          </a:prstGeom>
          <a:noFill/>
        </p:spPr>
        <p:txBody>
          <a:bodyPr wrap="square" lIns="45720" tIns="0" rIns="45720" bIns="0" anchor="ctr">
            <a:spAutoFit/>
          </a:bodyPr>
          <a:lstStyle/>
          <a:p>
            <a:pPr algn="ctr"/>
            <a:r>
              <a:rPr sz="1200" b="1" i="0">
                <a:solidFill>
                  <a:srgbClr val="E2E8F0"/>
                </a:solidFill>
                <a:latin typeface="Segoe UI"/>
              </a:rPr>
              <a:t>scrapers/</a:t>
            </a:r>
          </a:p>
        </p:txBody>
      </p:sp>
      <p:pic>
        <p:nvPicPr>
          <p:cNvPr id="19" name="Picture 18" descr="python.png"/>
          <p:cNvPicPr>
            <a:picLocks noChangeAspect="1"/>
          </p:cNvPicPr>
          <p:nvPr/>
        </p:nvPicPr>
        <p:blipFill>
          <a:blip r:embed="rId5"/>
          <a:stretch>
            <a:fillRect/>
          </a:stretch>
        </p:blipFill>
        <p:spPr>
          <a:xfrm>
            <a:off x="2583180" y="1874520"/>
            <a:ext cx="548640" cy="548640"/>
          </a:xfrm>
          <a:prstGeom prst="rect">
            <a:avLst/>
          </a:prstGeom>
        </p:spPr>
      </p:pic>
      <p:sp>
        <p:nvSpPr>
          <p:cNvPr id="20" name="TextBox 19"/>
          <p:cNvSpPr txBox="1"/>
          <p:nvPr/>
        </p:nvSpPr>
        <p:spPr>
          <a:xfrm>
            <a:off x="2217420" y="2468880"/>
            <a:ext cx="1280160" cy="426110"/>
          </a:xfrm>
          <a:prstGeom prst="rect">
            <a:avLst/>
          </a:prstGeom>
          <a:noFill/>
        </p:spPr>
        <p:txBody>
          <a:bodyPr wrap="square" lIns="45720" tIns="0" rIns="45720" bIns="0" anchor="ctr">
            <a:spAutoFit/>
          </a:bodyPr>
          <a:lstStyle/>
          <a:p>
            <a:pPr algn="ctr"/>
            <a:r>
              <a:rPr sz="1000" b="0" i="0">
                <a:solidFill>
                  <a:srgbClr val="2C3E52"/>
                </a:solidFill>
                <a:latin typeface="Consolas"/>
              </a:rPr>
              <a:t>catalog.py</a:t>
            </a:r>
          </a:p>
        </p:txBody>
      </p:sp>
      <p:sp>
        <p:nvSpPr>
          <p:cNvPr id="21" name="TextBox 20"/>
          <p:cNvSpPr txBox="1"/>
          <p:nvPr/>
        </p:nvSpPr>
        <p:spPr>
          <a:xfrm>
            <a:off x="2217420" y="2894990"/>
            <a:ext cx="1280160" cy="426110"/>
          </a:xfrm>
          <a:prstGeom prst="rect">
            <a:avLst/>
          </a:prstGeom>
          <a:noFill/>
        </p:spPr>
        <p:txBody>
          <a:bodyPr wrap="square" lIns="45720" tIns="0" rIns="45720" bIns="0" anchor="ctr">
            <a:spAutoFit/>
          </a:bodyPr>
          <a:lstStyle/>
          <a:p>
            <a:pPr algn="ctr"/>
            <a:r>
              <a:rPr sz="1000" b="0" i="0">
                <a:solidFill>
                  <a:srgbClr val="2C3E52"/>
                </a:solidFill>
                <a:latin typeface="Consolas"/>
              </a:rPr>
              <a:t>sections.py</a:t>
            </a:r>
          </a:p>
        </p:txBody>
      </p:sp>
      <p:sp>
        <p:nvSpPr>
          <p:cNvPr id="22" name="TextBox 21"/>
          <p:cNvSpPr txBox="1"/>
          <p:nvPr/>
        </p:nvSpPr>
        <p:spPr>
          <a:xfrm>
            <a:off x="2217420" y="3321100"/>
            <a:ext cx="1280160" cy="426110"/>
          </a:xfrm>
          <a:prstGeom prst="rect">
            <a:avLst/>
          </a:prstGeom>
          <a:noFill/>
        </p:spPr>
        <p:txBody>
          <a:bodyPr wrap="square" lIns="45720" tIns="0" rIns="45720" bIns="0" anchor="ctr">
            <a:spAutoFit/>
          </a:bodyPr>
          <a:lstStyle/>
          <a:p>
            <a:pPr algn="ctr"/>
            <a:r>
              <a:rPr sz="1000" b="0" i="0">
                <a:solidFill>
                  <a:srgbClr val="2C3E52"/>
                </a:solidFill>
                <a:latin typeface="Consolas"/>
              </a:rPr>
              <a:t>session_dates.py</a:t>
            </a:r>
          </a:p>
        </p:txBody>
      </p:sp>
      <p:sp>
        <p:nvSpPr>
          <p:cNvPr id="23" name="TextBox 22"/>
          <p:cNvSpPr txBox="1"/>
          <p:nvPr/>
        </p:nvSpPr>
        <p:spPr>
          <a:xfrm>
            <a:off x="2217420" y="3747210"/>
            <a:ext cx="1280160" cy="426110"/>
          </a:xfrm>
          <a:prstGeom prst="rect">
            <a:avLst/>
          </a:prstGeom>
          <a:noFill/>
        </p:spPr>
        <p:txBody>
          <a:bodyPr wrap="square" lIns="45720" tIns="0" rIns="45720" bIns="0" anchor="ctr">
            <a:spAutoFit/>
          </a:bodyPr>
          <a:lstStyle/>
          <a:p>
            <a:pPr algn="ctr"/>
            <a:r>
              <a:rPr sz="1000" b="0" i="0">
                <a:solidFill>
                  <a:srgbClr val="2C3E52"/>
                </a:solidFill>
                <a:latin typeface="Consolas"/>
              </a:rPr>
              <a:t>infer_terms.py</a:t>
            </a:r>
          </a:p>
        </p:txBody>
      </p:sp>
      <p:sp>
        <p:nvSpPr>
          <p:cNvPr id="24" name="TextBox 23"/>
          <p:cNvSpPr txBox="1"/>
          <p:nvPr/>
        </p:nvSpPr>
        <p:spPr>
          <a:xfrm>
            <a:off x="2217420" y="4173320"/>
            <a:ext cx="1280160" cy="426110"/>
          </a:xfrm>
          <a:prstGeom prst="rect">
            <a:avLst/>
          </a:prstGeom>
          <a:noFill/>
        </p:spPr>
        <p:txBody>
          <a:bodyPr wrap="square" lIns="45720" tIns="0" rIns="45720" bIns="0" anchor="ctr">
            <a:spAutoFit/>
          </a:bodyPr>
          <a:lstStyle/>
          <a:p>
            <a:pPr algn="ctr"/>
            <a:r>
              <a:rPr sz="1000" b="0" i="0">
                <a:solidFill>
                  <a:srgbClr val="2C3E52"/>
                </a:solidFill>
                <a:latin typeface="Consolas"/>
              </a:rPr>
              <a:t>program_reqs.py</a:t>
            </a:r>
          </a:p>
        </p:txBody>
      </p:sp>
      <p:sp>
        <p:nvSpPr>
          <p:cNvPr id="25" name="TextBox 24"/>
          <p:cNvSpPr txBox="1"/>
          <p:nvPr/>
        </p:nvSpPr>
        <p:spPr>
          <a:xfrm>
            <a:off x="2171700" y="4599432"/>
            <a:ext cx="1371600" cy="292608"/>
          </a:xfrm>
          <a:prstGeom prst="rect">
            <a:avLst/>
          </a:prstGeom>
          <a:noFill/>
        </p:spPr>
        <p:txBody>
          <a:bodyPr wrap="square" lIns="45720" tIns="0" rIns="45720" bIns="0" anchor="ctr">
            <a:spAutoFit/>
          </a:bodyPr>
          <a:lstStyle/>
          <a:p>
            <a:pPr algn="ctr"/>
            <a:r>
              <a:rPr sz="1000" b="0" i="1">
                <a:solidFill>
                  <a:srgbClr val="E8562A"/>
                </a:solidFill>
                <a:latin typeface="Segoe UI"/>
              </a:rPr>
              <a:t>stdlib only</a:t>
            </a:r>
          </a:p>
        </p:txBody>
      </p:sp>
      <p:sp>
        <p:nvSpPr>
          <p:cNvPr id="26" name="Rectangle 25"/>
          <p:cNvSpPr/>
          <p:nvPr/>
        </p:nvSpPr>
        <p:spPr>
          <a:xfrm>
            <a:off x="3794760" y="1417320"/>
            <a:ext cx="1371600" cy="34747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794760" y="1417320"/>
            <a:ext cx="1371600" cy="411480"/>
          </a:xfrm>
          <a:prstGeom prst="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94760" y="1417320"/>
            <a:ext cx="1371600" cy="411480"/>
          </a:xfrm>
          <a:prstGeom prst="rect">
            <a:avLst/>
          </a:prstGeom>
          <a:noFill/>
        </p:spPr>
        <p:txBody>
          <a:bodyPr wrap="square" lIns="45720" tIns="0" rIns="45720" bIns="0" anchor="ctr">
            <a:spAutoFit/>
          </a:bodyPr>
          <a:lstStyle/>
          <a:p>
            <a:pPr algn="ctr"/>
            <a:r>
              <a:rPr sz="1200" b="1" i="0">
                <a:solidFill>
                  <a:srgbClr val="E2E8F0"/>
                </a:solidFill>
                <a:latin typeface="Segoe UI"/>
              </a:rPr>
              <a:t>data/courses.db</a:t>
            </a:r>
          </a:p>
        </p:txBody>
      </p:sp>
      <p:pic>
        <p:nvPicPr>
          <p:cNvPr id="29" name="Picture 28" descr="sqlite.png"/>
          <p:cNvPicPr>
            <a:picLocks noChangeAspect="1"/>
          </p:cNvPicPr>
          <p:nvPr/>
        </p:nvPicPr>
        <p:blipFill>
          <a:blip r:embed="rId6"/>
          <a:stretch>
            <a:fillRect/>
          </a:stretch>
        </p:blipFill>
        <p:spPr>
          <a:xfrm>
            <a:off x="4206240" y="1874520"/>
            <a:ext cx="548640" cy="548640"/>
          </a:xfrm>
          <a:prstGeom prst="rect">
            <a:avLst/>
          </a:prstGeom>
        </p:spPr>
      </p:pic>
      <p:sp>
        <p:nvSpPr>
          <p:cNvPr id="30" name="TextBox 29"/>
          <p:cNvSpPr txBox="1"/>
          <p:nvPr/>
        </p:nvSpPr>
        <p:spPr>
          <a:xfrm>
            <a:off x="3840480" y="24688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SQLite</a:t>
            </a:r>
          </a:p>
        </p:txBody>
      </p:sp>
      <p:sp>
        <p:nvSpPr>
          <p:cNvPr id="31" name="TextBox 30"/>
          <p:cNvSpPr txBox="1"/>
          <p:nvPr/>
        </p:nvSpPr>
        <p:spPr>
          <a:xfrm>
            <a:off x="3840480" y="29260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single file</a:t>
            </a:r>
          </a:p>
        </p:txBody>
      </p:sp>
      <p:sp>
        <p:nvSpPr>
          <p:cNvPr id="32" name="TextBox 31"/>
          <p:cNvSpPr txBox="1"/>
          <p:nvPr/>
        </p:nvSpPr>
        <p:spPr>
          <a:xfrm>
            <a:off x="3840480" y="33832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8 tables</a:t>
            </a:r>
          </a:p>
        </p:txBody>
      </p:sp>
      <p:sp>
        <p:nvSpPr>
          <p:cNvPr id="33" name="TextBox 32"/>
          <p:cNvSpPr txBox="1"/>
          <p:nvPr/>
        </p:nvSpPr>
        <p:spPr>
          <a:xfrm>
            <a:off x="3840480" y="38404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catalog + app data</a:t>
            </a:r>
          </a:p>
        </p:txBody>
      </p:sp>
      <p:sp>
        <p:nvSpPr>
          <p:cNvPr id="34" name="TextBox 33"/>
          <p:cNvSpPr txBox="1"/>
          <p:nvPr/>
        </p:nvSpPr>
        <p:spPr>
          <a:xfrm>
            <a:off x="3794760" y="4599432"/>
            <a:ext cx="1371600" cy="292608"/>
          </a:xfrm>
          <a:prstGeom prst="rect">
            <a:avLst/>
          </a:prstGeom>
          <a:noFill/>
        </p:spPr>
        <p:txBody>
          <a:bodyPr wrap="square" lIns="45720" tIns="0" rIns="45720" bIns="0" anchor="ctr">
            <a:spAutoFit/>
          </a:bodyPr>
          <a:lstStyle/>
          <a:p>
            <a:pPr algn="ctr"/>
            <a:r>
              <a:rPr sz="1000" b="0" i="1">
                <a:solidFill>
                  <a:srgbClr val="E8562A"/>
                </a:solidFill>
                <a:latin typeface="Segoe UI"/>
              </a:rPr>
              <a:t>the hub</a:t>
            </a:r>
          </a:p>
        </p:txBody>
      </p:sp>
      <p:sp>
        <p:nvSpPr>
          <p:cNvPr id="35" name="Rectangle 34"/>
          <p:cNvSpPr/>
          <p:nvPr/>
        </p:nvSpPr>
        <p:spPr>
          <a:xfrm>
            <a:off x="5417820" y="1417320"/>
            <a:ext cx="1371600" cy="34747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417820" y="1417320"/>
            <a:ext cx="1371600" cy="411480"/>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417820" y="1417320"/>
            <a:ext cx="1371600" cy="411480"/>
          </a:xfrm>
          <a:prstGeom prst="rect">
            <a:avLst/>
          </a:prstGeom>
          <a:noFill/>
        </p:spPr>
        <p:txBody>
          <a:bodyPr wrap="square" lIns="45720" tIns="0" rIns="45720" bIns="0" anchor="ctr">
            <a:spAutoFit/>
          </a:bodyPr>
          <a:lstStyle/>
          <a:p>
            <a:pPr algn="ctr"/>
            <a:r>
              <a:rPr sz="1200" b="1" i="0">
                <a:solidFill>
                  <a:srgbClr val="E2E8F0"/>
                </a:solidFill>
                <a:latin typeface="Segoe UI"/>
              </a:rPr>
              <a:t>scheduler/</a:t>
            </a:r>
          </a:p>
        </p:txBody>
      </p:sp>
      <p:pic>
        <p:nvPicPr>
          <p:cNvPr id="38" name="Picture 37" descr="flask.png"/>
          <p:cNvPicPr>
            <a:picLocks noChangeAspect="1"/>
          </p:cNvPicPr>
          <p:nvPr/>
        </p:nvPicPr>
        <p:blipFill>
          <a:blip r:embed="rId7"/>
          <a:stretch>
            <a:fillRect/>
          </a:stretch>
        </p:blipFill>
        <p:spPr>
          <a:xfrm>
            <a:off x="5829300" y="1874520"/>
            <a:ext cx="548640" cy="548640"/>
          </a:xfrm>
          <a:prstGeom prst="rect">
            <a:avLst/>
          </a:prstGeom>
        </p:spPr>
      </p:pic>
      <p:sp>
        <p:nvSpPr>
          <p:cNvPr id="39" name="TextBox 38"/>
          <p:cNvSpPr txBox="1"/>
          <p:nvPr/>
        </p:nvSpPr>
        <p:spPr>
          <a:xfrm>
            <a:off x="5463540" y="24688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app.py</a:t>
            </a:r>
          </a:p>
        </p:txBody>
      </p:sp>
      <p:sp>
        <p:nvSpPr>
          <p:cNvPr id="40" name="TextBox 39"/>
          <p:cNvSpPr txBox="1"/>
          <p:nvPr/>
        </p:nvSpPr>
        <p:spPr>
          <a:xfrm>
            <a:off x="5463540" y="29260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db.py</a:t>
            </a:r>
          </a:p>
        </p:txBody>
      </p:sp>
      <p:sp>
        <p:nvSpPr>
          <p:cNvPr id="41" name="TextBox 40"/>
          <p:cNvSpPr txBox="1"/>
          <p:nvPr/>
        </p:nvSpPr>
        <p:spPr>
          <a:xfrm>
            <a:off x="5463540" y="33832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conflict.py</a:t>
            </a:r>
          </a:p>
        </p:txBody>
      </p:sp>
      <p:sp>
        <p:nvSpPr>
          <p:cNvPr id="42" name="TextBox 41"/>
          <p:cNvSpPr txBox="1"/>
          <p:nvPr/>
        </p:nvSpPr>
        <p:spPr>
          <a:xfrm>
            <a:off x="5463540" y="38404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transcript_pdf.py</a:t>
            </a:r>
          </a:p>
        </p:txBody>
      </p:sp>
      <p:sp>
        <p:nvSpPr>
          <p:cNvPr id="43" name="TextBox 42"/>
          <p:cNvSpPr txBox="1"/>
          <p:nvPr/>
        </p:nvSpPr>
        <p:spPr>
          <a:xfrm>
            <a:off x="5417820" y="4599432"/>
            <a:ext cx="1371600" cy="292608"/>
          </a:xfrm>
          <a:prstGeom prst="rect">
            <a:avLst/>
          </a:prstGeom>
          <a:noFill/>
        </p:spPr>
        <p:txBody>
          <a:bodyPr wrap="square" lIns="45720" tIns="0" rIns="45720" bIns="0" anchor="ctr">
            <a:spAutoFit/>
          </a:bodyPr>
          <a:lstStyle/>
          <a:p>
            <a:pPr algn="ctr"/>
            <a:r>
              <a:rPr sz="1000" b="0" i="1">
                <a:solidFill>
                  <a:srgbClr val="E8562A"/>
                </a:solidFill>
                <a:latin typeface="Segoe UI"/>
              </a:rPr>
              <a:t>Flask · JSON API</a:t>
            </a:r>
          </a:p>
        </p:txBody>
      </p:sp>
      <p:sp>
        <p:nvSpPr>
          <p:cNvPr id="44" name="Rectangle 43"/>
          <p:cNvSpPr/>
          <p:nvPr/>
        </p:nvSpPr>
        <p:spPr>
          <a:xfrm>
            <a:off x="7040880" y="1417320"/>
            <a:ext cx="1371600" cy="34747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040880" y="1417320"/>
            <a:ext cx="1371600" cy="411480"/>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040880" y="1417320"/>
            <a:ext cx="1371600" cy="411480"/>
          </a:xfrm>
          <a:prstGeom prst="rect">
            <a:avLst/>
          </a:prstGeom>
          <a:noFill/>
        </p:spPr>
        <p:txBody>
          <a:bodyPr wrap="square" lIns="45720" tIns="0" rIns="45720" bIns="0" anchor="ctr">
            <a:spAutoFit/>
          </a:bodyPr>
          <a:lstStyle/>
          <a:p>
            <a:pPr algn="ctr"/>
            <a:r>
              <a:rPr sz="1200" b="1" i="0">
                <a:solidFill>
                  <a:srgbClr val="E2E8F0"/>
                </a:solidFill>
                <a:latin typeface="Segoe UI"/>
              </a:rPr>
              <a:t>Browser</a:t>
            </a:r>
          </a:p>
        </p:txBody>
      </p:sp>
      <p:pic>
        <p:nvPicPr>
          <p:cNvPr id="47" name="Picture 46" descr="html5.png"/>
          <p:cNvPicPr>
            <a:picLocks noChangeAspect="1"/>
          </p:cNvPicPr>
          <p:nvPr/>
        </p:nvPicPr>
        <p:blipFill>
          <a:blip r:embed="rId8"/>
          <a:stretch>
            <a:fillRect/>
          </a:stretch>
        </p:blipFill>
        <p:spPr>
          <a:xfrm>
            <a:off x="7132320" y="1981200"/>
            <a:ext cx="335280" cy="335280"/>
          </a:xfrm>
          <a:prstGeom prst="rect">
            <a:avLst/>
          </a:prstGeom>
        </p:spPr>
      </p:pic>
      <p:pic>
        <p:nvPicPr>
          <p:cNvPr id="48" name="Picture 47" descr="css.png"/>
          <p:cNvPicPr>
            <a:picLocks noChangeAspect="1"/>
          </p:cNvPicPr>
          <p:nvPr/>
        </p:nvPicPr>
        <p:blipFill>
          <a:blip r:embed="rId9"/>
          <a:stretch>
            <a:fillRect/>
          </a:stretch>
        </p:blipFill>
        <p:spPr>
          <a:xfrm>
            <a:off x="7559040" y="1981200"/>
            <a:ext cx="335280" cy="335280"/>
          </a:xfrm>
          <a:prstGeom prst="rect">
            <a:avLst/>
          </a:prstGeom>
        </p:spPr>
      </p:pic>
      <p:pic>
        <p:nvPicPr>
          <p:cNvPr id="49" name="Picture 48" descr="javascript.png"/>
          <p:cNvPicPr>
            <a:picLocks noChangeAspect="1"/>
          </p:cNvPicPr>
          <p:nvPr/>
        </p:nvPicPr>
        <p:blipFill>
          <a:blip r:embed="rId10"/>
          <a:stretch>
            <a:fillRect/>
          </a:stretch>
        </p:blipFill>
        <p:spPr>
          <a:xfrm>
            <a:off x="7985760" y="1981200"/>
            <a:ext cx="335280" cy="335280"/>
          </a:xfrm>
          <a:prstGeom prst="rect">
            <a:avLst/>
          </a:prstGeom>
        </p:spPr>
      </p:pic>
      <p:sp>
        <p:nvSpPr>
          <p:cNvPr id="50" name="TextBox 49"/>
          <p:cNvSpPr txBox="1"/>
          <p:nvPr/>
        </p:nvSpPr>
        <p:spPr>
          <a:xfrm>
            <a:off x="7086600" y="24688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pages/*.html</a:t>
            </a:r>
          </a:p>
        </p:txBody>
      </p:sp>
      <p:sp>
        <p:nvSpPr>
          <p:cNvPr id="51" name="TextBox 50"/>
          <p:cNvSpPr txBox="1"/>
          <p:nvPr/>
        </p:nvSpPr>
        <p:spPr>
          <a:xfrm>
            <a:off x="7086600" y="29260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static/*.js</a:t>
            </a:r>
          </a:p>
        </p:txBody>
      </p:sp>
      <p:sp>
        <p:nvSpPr>
          <p:cNvPr id="52" name="TextBox 51"/>
          <p:cNvSpPr txBox="1"/>
          <p:nvPr/>
        </p:nvSpPr>
        <p:spPr>
          <a:xfrm>
            <a:off x="7086600" y="33832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style.css</a:t>
            </a:r>
          </a:p>
        </p:txBody>
      </p:sp>
      <p:sp>
        <p:nvSpPr>
          <p:cNvPr id="53" name="TextBox 52"/>
          <p:cNvSpPr txBox="1"/>
          <p:nvPr/>
        </p:nvSpPr>
        <p:spPr>
          <a:xfrm>
            <a:off x="7086600" y="3840480"/>
            <a:ext cx="1280160" cy="457200"/>
          </a:xfrm>
          <a:prstGeom prst="rect">
            <a:avLst/>
          </a:prstGeom>
          <a:noFill/>
        </p:spPr>
        <p:txBody>
          <a:bodyPr wrap="square" lIns="45720" tIns="0" rIns="45720" bIns="0" anchor="ctr">
            <a:spAutoFit/>
          </a:bodyPr>
          <a:lstStyle/>
          <a:p>
            <a:pPr algn="ctr"/>
            <a:r>
              <a:rPr sz="1000" b="0" i="0">
                <a:solidFill>
                  <a:srgbClr val="2C3E52"/>
                </a:solidFill>
                <a:latin typeface="Consolas"/>
              </a:rPr>
              <a:t>vanilla JS only</a:t>
            </a:r>
          </a:p>
        </p:txBody>
      </p:sp>
      <p:sp>
        <p:nvSpPr>
          <p:cNvPr id="54" name="Right Arrow 53"/>
          <p:cNvSpPr/>
          <p:nvPr/>
        </p:nvSpPr>
        <p:spPr>
          <a:xfrm>
            <a:off x="1899666" y="3008376"/>
            <a:ext cx="292608" cy="292608"/>
          </a:xfrm>
          <a:prstGeom prst="rightArrow">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ight Arrow 54"/>
          <p:cNvSpPr/>
          <p:nvPr/>
        </p:nvSpPr>
        <p:spPr>
          <a:xfrm>
            <a:off x="3522726" y="3008376"/>
            <a:ext cx="292608" cy="292608"/>
          </a:xfrm>
          <a:prstGeom prst="rightArrow">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ight Arrow 55"/>
          <p:cNvSpPr/>
          <p:nvPr/>
        </p:nvSpPr>
        <p:spPr>
          <a:xfrm>
            <a:off x="5145786" y="3008376"/>
            <a:ext cx="292608" cy="292608"/>
          </a:xfrm>
          <a:prstGeom prst="rightArrow">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ight Arrow 56"/>
          <p:cNvSpPr/>
          <p:nvPr/>
        </p:nvSpPr>
        <p:spPr>
          <a:xfrm>
            <a:off x="6768846" y="3008376"/>
            <a:ext cx="292608" cy="292608"/>
          </a:xfrm>
          <a:prstGeom prst="rightArrow">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417820" y="5257800"/>
            <a:ext cx="1497330" cy="640080"/>
          </a:xfrm>
          <a:prstGeom prst="rect">
            <a:avLst/>
          </a:prstGeom>
          <a:solidFill>
            <a:srgbClr val="F0F2F5"/>
          </a:solidFill>
          <a:ln w="9525">
            <a:solidFill>
              <a:srgbClr val="8899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anthropic.png"/>
          <p:cNvPicPr>
            <a:picLocks noChangeAspect="1"/>
          </p:cNvPicPr>
          <p:nvPr/>
        </p:nvPicPr>
        <p:blipFill>
          <a:blip r:embed="rId11"/>
          <a:stretch>
            <a:fillRect/>
          </a:stretch>
        </p:blipFill>
        <p:spPr>
          <a:xfrm>
            <a:off x="5509260" y="5372100"/>
            <a:ext cx="411480" cy="411480"/>
          </a:xfrm>
          <a:prstGeom prst="rect">
            <a:avLst/>
          </a:prstGeom>
        </p:spPr>
      </p:pic>
      <p:sp>
        <p:nvSpPr>
          <p:cNvPr id="60" name="TextBox 59"/>
          <p:cNvSpPr txBox="1"/>
          <p:nvPr/>
        </p:nvSpPr>
        <p:spPr>
          <a:xfrm>
            <a:off x="5993892" y="5303520"/>
            <a:ext cx="875538" cy="292608"/>
          </a:xfrm>
          <a:prstGeom prst="rect">
            <a:avLst/>
          </a:prstGeom>
          <a:noFill/>
        </p:spPr>
        <p:txBody>
          <a:bodyPr wrap="square" lIns="45720" tIns="0" rIns="45720" bIns="0" anchor="ctr">
            <a:spAutoFit/>
          </a:bodyPr>
          <a:lstStyle/>
          <a:p>
            <a:pPr algn="l"/>
            <a:r>
              <a:rPr sz="1100" b="1" i="0">
                <a:solidFill>
                  <a:srgbClr val="0A1628"/>
                </a:solidFill>
                <a:latin typeface="Segoe UI"/>
              </a:rPr>
              <a:t>Anthropic API</a:t>
            </a:r>
          </a:p>
        </p:txBody>
      </p:sp>
      <p:sp>
        <p:nvSpPr>
          <p:cNvPr id="61" name="TextBox 60"/>
          <p:cNvSpPr txBox="1"/>
          <p:nvPr/>
        </p:nvSpPr>
        <p:spPr>
          <a:xfrm>
            <a:off x="5993892" y="5576500"/>
            <a:ext cx="875538" cy="276999"/>
          </a:xfrm>
          <a:prstGeom prst="rect">
            <a:avLst/>
          </a:prstGeom>
          <a:noFill/>
        </p:spPr>
        <p:txBody>
          <a:bodyPr wrap="square" lIns="45720" tIns="0" rIns="45720" bIns="0" anchor="ctr">
            <a:spAutoFit/>
          </a:bodyPr>
          <a:lstStyle/>
          <a:p>
            <a:pPr algn="l"/>
            <a:r>
              <a:rPr lang="en-US" sz="900" b="0" i="1" dirty="0">
                <a:solidFill>
                  <a:srgbClr val="8899AA"/>
                </a:solidFill>
                <a:latin typeface="Segoe UI"/>
              </a:rPr>
              <a:t>Powers AI </a:t>
            </a:r>
            <a:r>
              <a:rPr lang="en-US" sz="900" b="0" i="1" dirty="0" err="1">
                <a:solidFill>
                  <a:srgbClr val="8899AA"/>
                </a:solidFill>
                <a:latin typeface="Segoe UI"/>
              </a:rPr>
              <a:t>assistnat</a:t>
            </a:r>
            <a:endParaRPr sz="900" b="0" i="1" dirty="0">
              <a:solidFill>
                <a:srgbClr val="8899AA"/>
              </a:solidFill>
              <a:latin typeface="Segoe UI"/>
            </a:endParaRPr>
          </a:p>
        </p:txBody>
      </p:sp>
      <p:cxnSp>
        <p:nvCxnSpPr>
          <p:cNvPr id="62" name="Connector 61"/>
          <p:cNvCxnSpPr/>
          <p:nvPr/>
        </p:nvCxnSpPr>
        <p:spPr>
          <a:xfrm>
            <a:off x="6103620" y="4892040"/>
            <a:ext cx="0" cy="365760"/>
          </a:xfrm>
          <a:prstGeom prst="line">
            <a:avLst/>
          </a:prstGeom>
          <a:ln w="12700">
            <a:solidFill>
              <a:srgbClr val="8899AA"/>
            </a:solidFill>
            <a:prstDash val="dash"/>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8595360" y="1417320"/>
            <a:ext cx="310896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778240" y="1600200"/>
            <a:ext cx="2743200" cy="365760"/>
          </a:xfrm>
          <a:prstGeom prst="rect">
            <a:avLst/>
          </a:prstGeom>
          <a:noFill/>
        </p:spPr>
        <p:txBody>
          <a:bodyPr wrap="square" lIns="45720" tIns="0" rIns="45720" bIns="0" anchor="t">
            <a:spAutoFit/>
          </a:bodyPr>
          <a:lstStyle/>
          <a:p>
            <a:pPr algn="l"/>
            <a:r>
              <a:rPr sz="1400" b="1" i="0">
                <a:solidFill>
                  <a:srgbClr val="0A1628"/>
                </a:solidFill>
                <a:latin typeface="Segoe UI"/>
              </a:rPr>
              <a:t>Three layers, one DB</a:t>
            </a:r>
          </a:p>
        </p:txBody>
      </p:sp>
      <p:sp>
        <p:nvSpPr>
          <p:cNvPr id="65" name="TextBox 64"/>
          <p:cNvSpPr txBox="1"/>
          <p:nvPr/>
        </p:nvSpPr>
        <p:spPr>
          <a:xfrm>
            <a:off x="8778240" y="2057400"/>
            <a:ext cx="2743200" cy="4023360"/>
          </a:xfrm>
          <a:prstGeom prst="rect">
            <a:avLst/>
          </a:prstGeom>
          <a:noFill/>
        </p:spPr>
        <p:txBody>
          <a:bodyPr wrap="square" lIns="45720" tIns="0" rIns="45720" bIns="0">
            <a:spAutoFit/>
          </a:bodyPr>
          <a:lstStyle/>
          <a:p>
            <a:pPr>
              <a:lnSpc>
                <a:spcPct val="115000"/>
              </a:lnSpc>
              <a:spcAft>
                <a:spcPts val="1000"/>
              </a:spcAft>
            </a:pPr>
            <a:r>
              <a:rPr sz="1200" b="0" i="0">
                <a:solidFill>
                  <a:srgbClr val="2C3E52"/>
                </a:solidFill>
                <a:latin typeface="Segoe UI"/>
              </a:rPr>
              <a:t>•  Scrapers feed SQLite — stdlib only, no requests / bs4.</a:t>
            </a:r>
          </a:p>
          <a:p>
            <a:pPr>
              <a:lnSpc>
                <a:spcPct val="115000"/>
              </a:lnSpc>
              <a:spcAft>
                <a:spcPts val="1000"/>
              </a:spcAft>
            </a:pPr>
            <a:r>
              <a:rPr sz="1200" b="0" i="0">
                <a:solidFill>
                  <a:srgbClr val="2C3E52"/>
                </a:solidFill>
                <a:latin typeface="Segoe UI"/>
              </a:rPr>
              <a:t>•  Flask reads SQLite, serves JSON + HTML.</a:t>
            </a:r>
          </a:p>
          <a:p>
            <a:pPr>
              <a:lnSpc>
                <a:spcPct val="115000"/>
              </a:lnSpc>
              <a:spcAft>
                <a:spcPts val="1000"/>
              </a:spcAft>
            </a:pPr>
            <a:r>
              <a:rPr sz="1200" b="0" i="0">
                <a:solidFill>
                  <a:srgbClr val="2C3E52"/>
                </a:solidFill>
                <a:latin typeface="Segoe UI"/>
              </a:rPr>
              <a:t>•  Vanilla JS pages call the JSON API.</a:t>
            </a:r>
          </a:p>
          <a:p>
            <a:pPr>
              <a:lnSpc>
                <a:spcPct val="115000"/>
              </a:lnSpc>
              <a:spcAft>
                <a:spcPts val="1000"/>
              </a:spcAft>
            </a:pPr>
            <a:r>
              <a:rPr sz="1200" b="0" i="0">
                <a:solidFill>
                  <a:srgbClr val="2C3E52"/>
                </a:solidFill>
                <a:latin typeface="Segoe UI"/>
              </a:rPr>
              <a:t>•  Anthropic call is optional and falls back to local rules.</a:t>
            </a:r>
          </a:p>
          <a:p>
            <a:pPr>
              <a:lnSpc>
                <a:spcPct val="115000"/>
              </a:lnSpc>
              <a:spcAft>
                <a:spcPts val="1000"/>
              </a:spcAft>
            </a:pPr>
            <a:r>
              <a:rPr sz="1200" b="1" i="0">
                <a:solidFill>
                  <a:srgbClr val="0A1628"/>
                </a:solidFill>
                <a:latin typeface="Segoe UI"/>
              </a:rPr>
              <a:t>•  Data flows left → right; control stays on your machine.</a:t>
            </a:r>
          </a:p>
        </p:txBody>
      </p:sp>
      <p:sp>
        <p:nvSpPr>
          <p:cNvPr id="66" name="TextBox 65"/>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4 / 10</a:t>
            </a:r>
          </a:p>
        </p:txBody>
      </p:sp>
      <p:sp>
        <p:nvSpPr>
          <p:cNvPr id="67" name="TextBox 66"/>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LIBRARIES &amp; WHY</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Tech stack</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17320"/>
            <a:ext cx="548640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55080" y="1417320"/>
            <a:ext cx="548640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645920"/>
            <a:ext cx="5486400" cy="365760"/>
          </a:xfrm>
          <a:prstGeom prst="rect">
            <a:avLst/>
          </a:prstGeom>
          <a:noFill/>
        </p:spPr>
        <p:txBody>
          <a:bodyPr wrap="square" lIns="45720" tIns="0" rIns="45720" bIns="0" anchor="t">
            <a:spAutoFit/>
          </a:bodyPr>
          <a:lstStyle/>
          <a:p>
            <a:pPr algn="l"/>
            <a:r>
              <a:rPr sz="1500" b="1" i="0">
                <a:solidFill>
                  <a:srgbClr val="0A1628"/>
                </a:solidFill>
                <a:latin typeface="Segoe UI"/>
              </a:rPr>
              <a:t>Backend &amp; scraping</a:t>
            </a:r>
          </a:p>
        </p:txBody>
      </p:sp>
      <p:sp>
        <p:nvSpPr>
          <p:cNvPr id="8" name="Rectangle 7"/>
          <p:cNvSpPr/>
          <p:nvPr/>
        </p:nvSpPr>
        <p:spPr>
          <a:xfrm>
            <a:off x="822960" y="205740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286000"/>
            <a:ext cx="4937760" cy="3840480"/>
          </a:xfrm>
          <a:prstGeom prst="rect">
            <a:avLst/>
          </a:prstGeom>
          <a:noFill/>
        </p:spPr>
        <p:txBody>
          <a:bodyPr wrap="square" lIns="45720" tIns="0" rIns="45720" bIns="0">
            <a:spAutoFit/>
          </a:bodyPr>
          <a:lstStyle/>
          <a:p>
            <a:pPr>
              <a:lnSpc>
                <a:spcPct val="115000"/>
              </a:lnSpc>
              <a:spcAft>
                <a:spcPts val="1000"/>
              </a:spcAft>
            </a:pPr>
            <a:r>
              <a:rPr sz="1300" b="0" i="0">
                <a:solidFill>
                  <a:srgbClr val="2C3E52"/>
                </a:solidFill>
                <a:latin typeface="Segoe UI"/>
              </a:rPr>
              <a:t>•  Flask 3.1 — page routes + ~50 JSON endpoints in app.py</a:t>
            </a:r>
          </a:p>
          <a:p>
            <a:pPr>
              <a:lnSpc>
                <a:spcPct val="115000"/>
              </a:lnSpc>
              <a:spcAft>
                <a:spcPts val="1000"/>
              </a:spcAft>
            </a:pPr>
            <a:r>
              <a:rPr sz="1300" b="0" i="0">
                <a:solidFill>
                  <a:srgbClr val="2C3E52"/>
                </a:solidFill>
                <a:latin typeface="Segoe UI"/>
              </a:rPr>
              <a:t>•  Werkzeug — password hashing, secure session cookies</a:t>
            </a:r>
          </a:p>
          <a:p>
            <a:pPr>
              <a:lnSpc>
                <a:spcPct val="115000"/>
              </a:lnSpc>
              <a:spcAft>
                <a:spcPts val="1000"/>
              </a:spcAft>
            </a:pPr>
            <a:r>
              <a:rPr sz="1300" b="0" i="0">
                <a:solidFill>
                  <a:srgbClr val="2C3E52"/>
                </a:solidFill>
                <a:latin typeface="Segoe UI"/>
              </a:rPr>
              <a:t>•  sqlite3 (stdlib) — single file at data/courses.db</a:t>
            </a:r>
          </a:p>
          <a:p>
            <a:pPr>
              <a:lnSpc>
                <a:spcPct val="115000"/>
              </a:lnSpc>
              <a:spcAft>
                <a:spcPts val="1000"/>
              </a:spcAft>
            </a:pPr>
            <a:r>
              <a:rPr sz="1300" b="0" i="0">
                <a:solidFill>
                  <a:srgbClr val="2C3E52"/>
                </a:solidFill>
                <a:latin typeface="Segoe UI"/>
              </a:rPr>
              <a:t>•  pypdf — transcript parsed in memory, never saved to disk</a:t>
            </a:r>
          </a:p>
          <a:p>
            <a:pPr>
              <a:lnSpc>
                <a:spcPct val="115000"/>
              </a:lnSpc>
              <a:spcAft>
                <a:spcPts val="1000"/>
              </a:spcAft>
            </a:pPr>
            <a:r>
              <a:rPr sz="1300" b="1" i="0">
                <a:solidFill>
                  <a:srgbClr val="0A1628"/>
                </a:solidFill>
                <a:latin typeface="Segoe UI"/>
              </a:rPr>
              <a:t>•  urllib + html + re + json — scrapers run on stdlib only</a:t>
            </a:r>
          </a:p>
          <a:p>
            <a:pPr>
              <a:lnSpc>
                <a:spcPct val="115000"/>
              </a:lnSpc>
              <a:spcAft>
                <a:spcPts val="1000"/>
              </a:spcAft>
            </a:pPr>
            <a:r>
              <a:rPr sz="1300" b="0" i="0">
                <a:solidFill>
                  <a:srgbClr val="8899AA"/>
                </a:solidFill>
                <a:latin typeface="Segoe UI"/>
              </a:rPr>
              <a:t>•  Anthropic Messages API — optional advisor, .env key</a:t>
            </a:r>
          </a:p>
        </p:txBody>
      </p:sp>
      <p:sp>
        <p:nvSpPr>
          <p:cNvPr id="10" name="TextBox 9"/>
          <p:cNvSpPr txBox="1"/>
          <p:nvPr/>
        </p:nvSpPr>
        <p:spPr>
          <a:xfrm>
            <a:off x="6629400" y="1645920"/>
            <a:ext cx="5486400" cy="365760"/>
          </a:xfrm>
          <a:prstGeom prst="rect">
            <a:avLst/>
          </a:prstGeom>
          <a:noFill/>
        </p:spPr>
        <p:txBody>
          <a:bodyPr wrap="square" lIns="45720" tIns="0" rIns="45720" bIns="0" anchor="t">
            <a:spAutoFit/>
          </a:bodyPr>
          <a:lstStyle/>
          <a:p>
            <a:pPr algn="l"/>
            <a:r>
              <a:rPr sz="1500" b="1" i="0">
                <a:solidFill>
                  <a:srgbClr val="0A1628"/>
                </a:solidFill>
                <a:latin typeface="Segoe UI"/>
              </a:rPr>
              <a:t>Frontend &amp; tooling</a:t>
            </a:r>
          </a:p>
        </p:txBody>
      </p:sp>
      <p:sp>
        <p:nvSpPr>
          <p:cNvPr id="11" name="Rectangle 10"/>
          <p:cNvSpPr/>
          <p:nvPr/>
        </p:nvSpPr>
        <p:spPr>
          <a:xfrm>
            <a:off x="6629400" y="205740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2286000"/>
            <a:ext cx="4937760" cy="3840480"/>
          </a:xfrm>
          <a:prstGeom prst="rect">
            <a:avLst/>
          </a:prstGeom>
          <a:noFill/>
        </p:spPr>
        <p:txBody>
          <a:bodyPr wrap="square" lIns="45720" tIns="0" rIns="45720" bIns="0">
            <a:spAutoFit/>
          </a:bodyPr>
          <a:lstStyle/>
          <a:p>
            <a:pPr>
              <a:lnSpc>
                <a:spcPct val="115000"/>
              </a:lnSpc>
              <a:spcAft>
                <a:spcPts val="1000"/>
              </a:spcAft>
            </a:pPr>
            <a:r>
              <a:rPr sz="1300" b="1" i="0">
                <a:solidFill>
                  <a:srgbClr val="0A1628"/>
                </a:solidFill>
                <a:latin typeface="Segoe UI"/>
              </a:rPr>
              <a:t>•  Vanilla HTML + CSS + JS — no React/Vue/Jinja</a:t>
            </a:r>
          </a:p>
          <a:p>
            <a:pPr>
              <a:lnSpc>
                <a:spcPct val="115000"/>
              </a:lnSpc>
              <a:spcAft>
                <a:spcPts val="1000"/>
              </a:spcAft>
            </a:pPr>
            <a:r>
              <a:rPr sz="1300" b="0" i="0">
                <a:solidFill>
                  <a:srgbClr val="2C3E52"/>
                </a:solidFill>
                <a:latin typeface="Segoe UI"/>
              </a:rPr>
              <a:t>•  Bootstrap utility classes for layout polish only</a:t>
            </a:r>
          </a:p>
          <a:p>
            <a:pPr>
              <a:lnSpc>
                <a:spcPct val="115000"/>
              </a:lnSpc>
              <a:spcAft>
                <a:spcPts val="1000"/>
              </a:spcAft>
            </a:pPr>
            <a:r>
              <a:rPr sz="1300" b="0" i="0">
                <a:solidFill>
                  <a:srgbClr val="2C3E52"/>
                </a:solidFill>
                <a:latin typeface="Segoe UI"/>
              </a:rPr>
              <a:t>•  Custom CSS palette in scheduler/static/style.css</a:t>
            </a:r>
          </a:p>
          <a:p>
            <a:pPr>
              <a:lnSpc>
                <a:spcPct val="115000"/>
              </a:lnSpc>
              <a:spcAft>
                <a:spcPts val="1000"/>
              </a:spcAft>
            </a:pPr>
            <a:r>
              <a:rPr sz="1300" b="0" i="0">
                <a:solidFill>
                  <a:srgbClr val="2C3E52"/>
                </a:solidFill>
                <a:latin typeface="Segoe UI"/>
              </a:rPr>
              <a:t>•  pytest / unittest — see tests/ for the suite</a:t>
            </a:r>
          </a:p>
          <a:p>
            <a:pPr>
              <a:lnSpc>
                <a:spcPct val="115000"/>
              </a:lnSpc>
              <a:spcAft>
                <a:spcPts val="1000"/>
              </a:spcAft>
            </a:pPr>
            <a:r>
              <a:rPr sz="1300" b="0" i="0">
                <a:solidFill>
                  <a:srgbClr val="2C3E52"/>
                </a:solidFill>
                <a:latin typeface="Segoe UI"/>
              </a:rPr>
              <a:t>•  python -m venv + pip — two-line setup in README</a:t>
            </a:r>
          </a:p>
          <a:p>
            <a:pPr>
              <a:lnSpc>
                <a:spcPct val="115000"/>
              </a:lnSpc>
              <a:spcAft>
                <a:spcPts val="1000"/>
              </a:spcAft>
            </a:pPr>
            <a:r>
              <a:rPr sz="1300" b="0" i="0">
                <a:solidFill>
                  <a:srgbClr val="8899AA"/>
                </a:solidFill>
                <a:latin typeface="Segoe UI"/>
              </a:rPr>
              <a:t>•  git for version control; .env.example for secrets layout</a:t>
            </a:r>
          </a:p>
        </p:txBody>
      </p:sp>
      <p:sp>
        <p:nvSpPr>
          <p:cNvPr id="13" name="Rectangle 12"/>
          <p:cNvSpPr/>
          <p:nvPr/>
        </p:nvSpPr>
        <p:spPr>
          <a:xfrm>
            <a:off x="822960" y="5394960"/>
            <a:ext cx="493776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486400"/>
            <a:ext cx="4754880" cy="411480"/>
          </a:xfrm>
          <a:prstGeom prst="rect">
            <a:avLst/>
          </a:prstGeom>
          <a:noFill/>
        </p:spPr>
        <p:txBody>
          <a:bodyPr wrap="square" lIns="45720" tIns="0" rIns="45720" bIns="0" anchor="t">
            <a:spAutoFit/>
          </a:bodyPr>
          <a:lstStyle/>
          <a:p>
            <a:pPr algn="l"/>
            <a:r>
              <a:rPr sz="1100" b="0" i="1">
                <a:solidFill>
                  <a:srgbClr val="E2E8F0"/>
                </a:solidFill>
                <a:latin typeface="Segoe UI"/>
              </a:rPr>
              <a:t>Why stdlib scrapers? Portable, deterministic, zero install pain on a grader's machine.</a:t>
            </a:r>
          </a:p>
        </p:txBody>
      </p:sp>
      <p:sp>
        <p:nvSpPr>
          <p:cNvPr id="15" name="Rectangle 14"/>
          <p:cNvSpPr/>
          <p:nvPr/>
        </p:nvSpPr>
        <p:spPr>
          <a:xfrm>
            <a:off x="6629400" y="5394960"/>
            <a:ext cx="493776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20840" y="5486400"/>
            <a:ext cx="4754880" cy="411480"/>
          </a:xfrm>
          <a:prstGeom prst="rect">
            <a:avLst/>
          </a:prstGeom>
          <a:noFill/>
        </p:spPr>
        <p:txBody>
          <a:bodyPr wrap="square" lIns="45720" tIns="0" rIns="45720" bIns="0" anchor="t">
            <a:spAutoFit/>
          </a:bodyPr>
          <a:lstStyle/>
          <a:p>
            <a:pPr algn="l"/>
            <a:r>
              <a:rPr sz="1100" b="0" i="1">
                <a:solidFill>
                  <a:srgbClr val="E2E8F0"/>
                </a:solidFill>
                <a:latin typeface="Segoe UI"/>
              </a:rPr>
              <a:t>Why no JS framework? Course is graded on Python; the frontend stays small enough to read.</a:t>
            </a:r>
          </a:p>
        </p:txBody>
      </p:sp>
      <p:sp>
        <p:nvSpPr>
          <p:cNvPr id="17" name="TextBox 16"/>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5 / 10</a:t>
            </a:r>
          </a:p>
        </p:txBody>
      </p:sp>
      <p:sp>
        <p:nvSpPr>
          <p:cNvPr id="18" name="TextBox 17"/>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ONE FILE · DATA/COURSES.DB</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Database schema</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17320"/>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17320"/>
            <a:ext cx="2487168" cy="292608"/>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17320"/>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users</a:t>
            </a:r>
          </a:p>
        </p:txBody>
      </p:sp>
      <p:sp>
        <p:nvSpPr>
          <p:cNvPr id="8" name="TextBox 7"/>
          <p:cNvSpPr txBox="1"/>
          <p:nvPr/>
        </p:nvSpPr>
        <p:spPr>
          <a:xfrm>
            <a:off x="658368" y="1746504"/>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id</a:t>
            </a:r>
          </a:p>
        </p:txBody>
      </p:sp>
      <p:sp>
        <p:nvSpPr>
          <p:cNvPr id="9" name="TextBox 8"/>
          <p:cNvSpPr txBox="1"/>
          <p:nvPr/>
        </p:nvSpPr>
        <p:spPr>
          <a:xfrm>
            <a:off x="2075688" y="1746504"/>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PK</a:t>
            </a:r>
          </a:p>
        </p:txBody>
      </p:sp>
      <p:sp>
        <p:nvSpPr>
          <p:cNvPr id="10" name="TextBox 9"/>
          <p:cNvSpPr txBox="1"/>
          <p:nvPr/>
        </p:nvSpPr>
        <p:spPr>
          <a:xfrm>
            <a:off x="658368" y="2017776"/>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username</a:t>
            </a:r>
          </a:p>
        </p:txBody>
      </p:sp>
      <p:sp>
        <p:nvSpPr>
          <p:cNvPr id="11" name="TextBox 10"/>
          <p:cNvSpPr txBox="1"/>
          <p:nvPr/>
        </p:nvSpPr>
        <p:spPr>
          <a:xfrm>
            <a:off x="2075688" y="2017776"/>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12" name="TextBox 11"/>
          <p:cNvSpPr txBox="1"/>
          <p:nvPr/>
        </p:nvSpPr>
        <p:spPr>
          <a:xfrm>
            <a:off x="658368" y="2289048"/>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password_hash</a:t>
            </a:r>
          </a:p>
        </p:txBody>
      </p:sp>
      <p:sp>
        <p:nvSpPr>
          <p:cNvPr id="13" name="TextBox 12"/>
          <p:cNvSpPr txBox="1"/>
          <p:nvPr/>
        </p:nvSpPr>
        <p:spPr>
          <a:xfrm>
            <a:off x="2075688" y="2289048"/>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14" name="TextBox 13"/>
          <p:cNvSpPr txBox="1"/>
          <p:nvPr/>
        </p:nvSpPr>
        <p:spPr>
          <a:xfrm>
            <a:off x="658368" y="2560320"/>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created_at</a:t>
            </a:r>
          </a:p>
        </p:txBody>
      </p:sp>
      <p:sp>
        <p:nvSpPr>
          <p:cNvPr id="15" name="TextBox 14"/>
          <p:cNvSpPr txBox="1"/>
          <p:nvPr/>
        </p:nvSpPr>
        <p:spPr>
          <a:xfrm>
            <a:off x="2075688" y="2560320"/>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TS</a:t>
            </a:r>
          </a:p>
        </p:txBody>
      </p:sp>
      <p:sp>
        <p:nvSpPr>
          <p:cNvPr id="16" name="Rectangle 15"/>
          <p:cNvSpPr/>
          <p:nvPr/>
        </p:nvSpPr>
        <p:spPr>
          <a:xfrm>
            <a:off x="548640" y="3069336"/>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3069336"/>
            <a:ext cx="2487168" cy="292608"/>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3069336"/>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user_profiles</a:t>
            </a:r>
          </a:p>
        </p:txBody>
      </p:sp>
      <p:sp>
        <p:nvSpPr>
          <p:cNvPr id="19" name="TextBox 18"/>
          <p:cNvSpPr txBox="1"/>
          <p:nvPr/>
        </p:nvSpPr>
        <p:spPr>
          <a:xfrm>
            <a:off x="658368" y="3398520"/>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user_id</a:t>
            </a:r>
          </a:p>
        </p:txBody>
      </p:sp>
      <p:sp>
        <p:nvSpPr>
          <p:cNvPr id="20" name="TextBox 19"/>
          <p:cNvSpPr txBox="1"/>
          <p:nvPr/>
        </p:nvSpPr>
        <p:spPr>
          <a:xfrm>
            <a:off x="2075688" y="3398520"/>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PK/FK</a:t>
            </a:r>
          </a:p>
        </p:txBody>
      </p:sp>
      <p:sp>
        <p:nvSpPr>
          <p:cNvPr id="21" name="TextBox 20"/>
          <p:cNvSpPr txBox="1"/>
          <p:nvPr/>
        </p:nvSpPr>
        <p:spPr>
          <a:xfrm>
            <a:off x="658368" y="3669792"/>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major</a:t>
            </a:r>
          </a:p>
        </p:txBody>
      </p:sp>
      <p:sp>
        <p:nvSpPr>
          <p:cNvPr id="22" name="TextBox 21"/>
          <p:cNvSpPr txBox="1"/>
          <p:nvPr/>
        </p:nvSpPr>
        <p:spPr>
          <a:xfrm>
            <a:off x="2075688" y="3669792"/>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23" name="TextBox 22"/>
          <p:cNvSpPr txBox="1"/>
          <p:nvPr/>
        </p:nvSpPr>
        <p:spPr>
          <a:xfrm>
            <a:off x="658368" y="3941064"/>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minor</a:t>
            </a:r>
          </a:p>
        </p:txBody>
      </p:sp>
      <p:sp>
        <p:nvSpPr>
          <p:cNvPr id="24" name="TextBox 23"/>
          <p:cNvSpPr txBox="1"/>
          <p:nvPr/>
        </p:nvSpPr>
        <p:spPr>
          <a:xfrm>
            <a:off x="2075688" y="3941064"/>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25" name="TextBox 24"/>
          <p:cNvSpPr txBox="1"/>
          <p:nvPr/>
        </p:nvSpPr>
        <p:spPr>
          <a:xfrm>
            <a:off x="658368" y="4212336"/>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transcript_json</a:t>
            </a:r>
          </a:p>
        </p:txBody>
      </p:sp>
      <p:sp>
        <p:nvSpPr>
          <p:cNvPr id="26" name="TextBox 25"/>
          <p:cNvSpPr txBox="1"/>
          <p:nvPr/>
        </p:nvSpPr>
        <p:spPr>
          <a:xfrm>
            <a:off x="2075688" y="4212336"/>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JSON</a:t>
            </a:r>
          </a:p>
        </p:txBody>
      </p:sp>
      <p:sp>
        <p:nvSpPr>
          <p:cNvPr id="27" name="Rectangle 26"/>
          <p:cNvSpPr/>
          <p:nvPr/>
        </p:nvSpPr>
        <p:spPr>
          <a:xfrm>
            <a:off x="548640" y="4721352"/>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721352"/>
            <a:ext cx="2487168" cy="292608"/>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4721352"/>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course_wishlist</a:t>
            </a:r>
          </a:p>
        </p:txBody>
      </p:sp>
      <p:sp>
        <p:nvSpPr>
          <p:cNvPr id="30" name="TextBox 29"/>
          <p:cNvSpPr txBox="1"/>
          <p:nvPr/>
        </p:nvSpPr>
        <p:spPr>
          <a:xfrm>
            <a:off x="658368" y="5050536"/>
            <a:ext cx="1572768" cy="361696"/>
          </a:xfrm>
          <a:prstGeom prst="rect">
            <a:avLst/>
          </a:prstGeom>
          <a:noFill/>
        </p:spPr>
        <p:txBody>
          <a:bodyPr wrap="square" lIns="45720" tIns="0" rIns="45720" bIns="0" anchor="ctr">
            <a:spAutoFit/>
          </a:bodyPr>
          <a:lstStyle/>
          <a:p>
            <a:pPr algn="l"/>
            <a:r>
              <a:rPr sz="900" b="0" i="0">
                <a:solidFill>
                  <a:srgbClr val="2C3E52"/>
                </a:solidFill>
                <a:latin typeface="Consolas"/>
              </a:rPr>
              <a:t>id</a:t>
            </a:r>
          </a:p>
        </p:txBody>
      </p:sp>
      <p:sp>
        <p:nvSpPr>
          <p:cNvPr id="31" name="TextBox 30"/>
          <p:cNvSpPr txBox="1"/>
          <p:nvPr/>
        </p:nvSpPr>
        <p:spPr>
          <a:xfrm>
            <a:off x="2075688" y="5050536"/>
            <a:ext cx="868680" cy="361696"/>
          </a:xfrm>
          <a:prstGeom prst="rect">
            <a:avLst/>
          </a:prstGeom>
          <a:noFill/>
        </p:spPr>
        <p:txBody>
          <a:bodyPr wrap="square" lIns="45720" tIns="0" rIns="45720" bIns="0" anchor="ctr">
            <a:spAutoFit/>
          </a:bodyPr>
          <a:lstStyle/>
          <a:p>
            <a:pPr algn="r"/>
            <a:r>
              <a:rPr sz="900" b="0" i="0">
                <a:solidFill>
                  <a:srgbClr val="8899AA"/>
                </a:solidFill>
                <a:latin typeface="Consolas"/>
              </a:rPr>
              <a:t>PK</a:t>
            </a:r>
          </a:p>
        </p:txBody>
      </p:sp>
      <p:sp>
        <p:nvSpPr>
          <p:cNvPr id="32" name="TextBox 31"/>
          <p:cNvSpPr txBox="1"/>
          <p:nvPr/>
        </p:nvSpPr>
        <p:spPr>
          <a:xfrm>
            <a:off x="658368" y="5412232"/>
            <a:ext cx="1572768" cy="361696"/>
          </a:xfrm>
          <a:prstGeom prst="rect">
            <a:avLst/>
          </a:prstGeom>
          <a:noFill/>
        </p:spPr>
        <p:txBody>
          <a:bodyPr wrap="square" lIns="45720" tIns="0" rIns="45720" bIns="0" anchor="ctr">
            <a:spAutoFit/>
          </a:bodyPr>
          <a:lstStyle/>
          <a:p>
            <a:pPr algn="l"/>
            <a:r>
              <a:rPr sz="900" b="0" i="0">
                <a:solidFill>
                  <a:srgbClr val="2C3E52"/>
                </a:solidFill>
                <a:latin typeface="Consolas"/>
              </a:rPr>
              <a:t>user_id</a:t>
            </a:r>
          </a:p>
        </p:txBody>
      </p:sp>
      <p:sp>
        <p:nvSpPr>
          <p:cNvPr id="33" name="TextBox 32"/>
          <p:cNvSpPr txBox="1"/>
          <p:nvPr/>
        </p:nvSpPr>
        <p:spPr>
          <a:xfrm>
            <a:off x="2075688" y="5412232"/>
            <a:ext cx="868680" cy="361696"/>
          </a:xfrm>
          <a:prstGeom prst="rect">
            <a:avLst/>
          </a:prstGeom>
          <a:noFill/>
        </p:spPr>
        <p:txBody>
          <a:bodyPr wrap="square" lIns="45720" tIns="0" rIns="45720" bIns="0" anchor="ctr">
            <a:spAutoFit/>
          </a:bodyPr>
          <a:lstStyle/>
          <a:p>
            <a:pPr algn="r"/>
            <a:r>
              <a:rPr sz="900" b="0" i="0">
                <a:solidFill>
                  <a:srgbClr val="8899AA"/>
                </a:solidFill>
                <a:latin typeface="Consolas"/>
              </a:rPr>
              <a:t>FK</a:t>
            </a:r>
          </a:p>
        </p:txBody>
      </p:sp>
      <p:sp>
        <p:nvSpPr>
          <p:cNvPr id="34" name="TextBox 33"/>
          <p:cNvSpPr txBox="1"/>
          <p:nvPr/>
        </p:nvSpPr>
        <p:spPr>
          <a:xfrm>
            <a:off x="658368" y="5773928"/>
            <a:ext cx="1572768" cy="361696"/>
          </a:xfrm>
          <a:prstGeom prst="rect">
            <a:avLst/>
          </a:prstGeom>
          <a:noFill/>
        </p:spPr>
        <p:txBody>
          <a:bodyPr wrap="square" lIns="45720" tIns="0" rIns="45720" bIns="0" anchor="ctr">
            <a:spAutoFit/>
          </a:bodyPr>
          <a:lstStyle/>
          <a:p>
            <a:pPr algn="l"/>
            <a:r>
              <a:rPr sz="900" b="0" i="0">
                <a:solidFill>
                  <a:srgbClr val="2C3E52"/>
                </a:solidFill>
                <a:latin typeface="Consolas"/>
              </a:rPr>
              <a:t>course_id</a:t>
            </a:r>
          </a:p>
        </p:txBody>
      </p:sp>
      <p:sp>
        <p:nvSpPr>
          <p:cNvPr id="35" name="TextBox 34"/>
          <p:cNvSpPr txBox="1"/>
          <p:nvPr/>
        </p:nvSpPr>
        <p:spPr>
          <a:xfrm>
            <a:off x="2075688" y="5773928"/>
            <a:ext cx="868680" cy="361696"/>
          </a:xfrm>
          <a:prstGeom prst="rect">
            <a:avLst/>
          </a:prstGeom>
          <a:noFill/>
        </p:spPr>
        <p:txBody>
          <a:bodyPr wrap="square" lIns="45720" tIns="0" rIns="45720" bIns="0" anchor="ctr">
            <a:spAutoFit/>
          </a:bodyPr>
          <a:lstStyle/>
          <a:p>
            <a:pPr algn="r"/>
            <a:r>
              <a:rPr sz="900" b="0" i="0">
                <a:solidFill>
                  <a:srgbClr val="8899AA"/>
                </a:solidFill>
                <a:latin typeface="Consolas"/>
              </a:rPr>
              <a:t>FK</a:t>
            </a:r>
          </a:p>
        </p:txBody>
      </p:sp>
      <p:sp>
        <p:nvSpPr>
          <p:cNvPr id="36" name="Rectangle 35"/>
          <p:cNvSpPr/>
          <p:nvPr/>
        </p:nvSpPr>
        <p:spPr>
          <a:xfrm>
            <a:off x="3236976" y="1417320"/>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236976" y="1417320"/>
            <a:ext cx="2487168" cy="292608"/>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236976" y="1417320"/>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schedule_scenarios</a:t>
            </a:r>
          </a:p>
        </p:txBody>
      </p:sp>
      <p:sp>
        <p:nvSpPr>
          <p:cNvPr id="39" name="TextBox 38"/>
          <p:cNvSpPr txBox="1"/>
          <p:nvPr/>
        </p:nvSpPr>
        <p:spPr>
          <a:xfrm>
            <a:off x="3346704" y="1746504"/>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id</a:t>
            </a:r>
          </a:p>
        </p:txBody>
      </p:sp>
      <p:sp>
        <p:nvSpPr>
          <p:cNvPr id="40" name="TextBox 39"/>
          <p:cNvSpPr txBox="1"/>
          <p:nvPr/>
        </p:nvSpPr>
        <p:spPr>
          <a:xfrm>
            <a:off x="4764024" y="1746504"/>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PK</a:t>
            </a:r>
          </a:p>
        </p:txBody>
      </p:sp>
      <p:sp>
        <p:nvSpPr>
          <p:cNvPr id="41" name="TextBox 40"/>
          <p:cNvSpPr txBox="1"/>
          <p:nvPr/>
        </p:nvSpPr>
        <p:spPr>
          <a:xfrm>
            <a:off x="3346704" y="1963521"/>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user_id</a:t>
            </a:r>
          </a:p>
        </p:txBody>
      </p:sp>
      <p:sp>
        <p:nvSpPr>
          <p:cNvPr id="42" name="TextBox 41"/>
          <p:cNvSpPr txBox="1"/>
          <p:nvPr/>
        </p:nvSpPr>
        <p:spPr>
          <a:xfrm>
            <a:off x="4764024" y="1963521"/>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FK</a:t>
            </a:r>
          </a:p>
        </p:txBody>
      </p:sp>
      <p:sp>
        <p:nvSpPr>
          <p:cNvPr id="43" name="TextBox 42"/>
          <p:cNvSpPr txBox="1"/>
          <p:nvPr/>
        </p:nvSpPr>
        <p:spPr>
          <a:xfrm>
            <a:off x="3346704" y="2180538"/>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term</a:t>
            </a:r>
          </a:p>
        </p:txBody>
      </p:sp>
      <p:sp>
        <p:nvSpPr>
          <p:cNvPr id="44" name="TextBox 43"/>
          <p:cNvSpPr txBox="1"/>
          <p:nvPr/>
        </p:nvSpPr>
        <p:spPr>
          <a:xfrm>
            <a:off x="4764024" y="2180538"/>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45" name="TextBox 44"/>
          <p:cNvSpPr txBox="1"/>
          <p:nvPr/>
        </p:nvSpPr>
        <p:spPr>
          <a:xfrm>
            <a:off x="3346704" y="2397555"/>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name</a:t>
            </a:r>
          </a:p>
        </p:txBody>
      </p:sp>
      <p:sp>
        <p:nvSpPr>
          <p:cNvPr id="46" name="TextBox 45"/>
          <p:cNvSpPr txBox="1"/>
          <p:nvPr/>
        </p:nvSpPr>
        <p:spPr>
          <a:xfrm>
            <a:off x="4764024" y="2397555"/>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47" name="TextBox 46"/>
          <p:cNvSpPr txBox="1"/>
          <p:nvPr/>
        </p:nvSpPr>
        <p:spPr>
          <a:xfrm>
            <a:off x="3346704" y="2614572"/>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is_active</a:t>
            </a:r>
          </a:p>
        </p:txBody>
      </p:sp>
      <p:sp>
        <p:nvSpPr>
          <p:cNvPr id="48" name="TextBox 47"/>
          <p:cNvSpPr txBox="1"/>
          <p:nvPr/>
        </p:nvSpPr>
        <p:spPr>
          <a:xfrm>
            <a:off x="4764024" y="2614572"/>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BOOL</a:t>
            </a:r>
          </a:p>
        </p:txBody>
      </p:sp>
      <p:sp>
        <p:nvSpPr>
          <p:cNvPr id="49" name="Rectangle 48"/>
          <p:cNvSpPr/>
          <p:nvPr/>
        </p:nvSpPr>
        <p:spPr>
          <a:xfrm>
            <a:off x="3236976" y="3069336"/>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3236976" y="3069336"/>
            <a:ext cx="2487168" cy="292608"/>
          </a:xfrm>
          <a:prstGeom prst="rect">
            <a:avLst/>
          </a:prstGeom>
          <a:solidFill>
            <a:srgbClr val="0A1628"/>
          </a:solidFill>
          <a:ln>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236976" y="3069336"/>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user_schedules</a:t>
            </a:r>
          </a:p>
        </p:txBody>
      </p:sp>
      <p:sp>
        <p:nvSpPr>
          <p:cNvPr id="52" name="TextBox 51"/>
          <p:cNvSpPr txBox="1"/>
          <p:nvPr/>
        </p:nvSpPr>
        <p:spPr>
          <a:xfrm>
            <a:off x="3346704" y="3398520"/>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id</a:t>
            </a:r>
          </a:p>
        </p:txBody>
      </p:sp>
      <p:sp>
        <p:nvSpPr>
          <p:cNvPr id="53" name="TextBox 52"/>
          <p:cNvSpPr txBox="1"/>
          <p:nvPr/>
        </p:nvSpPr>
        <p:spPr>
          <a:xfrm>
            <a:off x="4764024" y="3398520"/>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PK</a:t>
            </a:r>
          </a:p>
        </p:txBody>
      </p:sp>
      <p:sp>
        <p:nvSpPr>
          <p:cNvPr id="54" name="TextBox 53"/>
          <p:cNvSpPr txBox="1"/>
          <p:nvPr/>
        </p:nvSpPr>
        <p:spPr>
          <a:xfrm>
            <a:off x="3346704" y="3669792"/>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scenario_id</a:t>
            </a:r>
          </a:p>
        </p:txBody>
      </p:sp>
      <p:sp>
        <p:nvSpPr>
          <p:cNvPr id="55" name="TextBox 54"/>
          <p:cNvSpPr txBox="1"/>
          <p:nvPr/>
        </p:nvSpPr>
        <p:spPr>
          <a:xfrm>
            <a:off x="4764024" y="3669792"/>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FK</a:t>
            </a:r>
          </a:p>
        </p:txBody>
      </p:sp>
      <p:sp>
        <p:nvSpPr>
          <p:cNvPr id="56" name="TextBox 55"/>
          <p:cNvSpPr txBox="1"/>
          <p:nvPr/>
        </p:nvSpPr>
        <p:spPr>
          <a:xfrm>
            <a:off x="3346704" y="3941064"/>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user_id</a:t>
            </a:r>
          </a:p>
        </p:txBody>
      </p:sp>
      <p:sp>
        <p:nvSpPr>
          <p:cNvPr id="57" name="TextBox 56"/>
          <p:cNvSpPr txBox="1"/>
          <p:nvPr/>
        </p:nvSpPr>
        <p:spPr>
          <a:xfrm>
            <a:off x="4764024" y="3941064"/>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FK</a:t>
            </a:r>
          </a:p>
        </p:txBody>
      </p:sp>
      <p:sp>
        <p:nvSpPr>
          <p:cNvPr id="58" name="TextBox 57"/>
          <p:cNvSpPr txBox="1"/>
          <p:nvPr/>
        </p:nvSpPr>
        <p:spPr>
          <a:xfrm>
            <a:off x="3346704" y="4212336"/>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section_id</a:t>
            </a:r>
          </a:p>
        </p:txBody>
      </p:sp>
      <p:sp>
        <p:nvSpPr>
          <p:cNvPr id="59" name="TextBox 58"/>
          <p:cNvSpPr txBox="1"/>
          <p:nvPr/>
        </p:nvSpPr>
        <p:spPr>
          <a:xfrm>
            <a:off x="4764024" y="4212336"/>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FK</a:t>
            </a:r>
          </a:p>
        </p:txBody>
      </p:sp>
      <p:sp>
        <p:nvSpPr>
          <p:cNvPr id="60" name="Rectangle 59"/>
          <p:cNvSpPr/>
          <p:nvPr/>
        </p:nvSpPr>
        <p:spPr>
          <a:xfrm>
            <a:off x="5925312" y="1417320"/>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5925312" y="1417320"/>
            <a:ext cx="2487168" cy="292608"/>
          </a:xfrm>
          <a:prstGeom prst="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925312" y="1417320"/>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courses</a:t>
            </a:r>
          </a:p>
        </p:txBody>
      </p:sp>
      <p:sp>
        <p:nvSpPr>
          <p:cNvPr id="63" name="TextBox 62"/>
          <p:cNvSpPr txBox="1"/>
          <p:nvPr/>
        </p:nvSpPr>
        <p:spPr>
          <a:xfrm>
            <a:off x="6035040" y="1746504"/>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id</a:t>
            </a:r>
          </a:p>
        </p:txBody>
      </p:sp>
      <p:sp>
        <p:nvSpPr>
          <p:cNvPr id="64" name="TextBox 63"/>
          <p:cNvSpPr txBox="1"/>
          <p:nvPr/>
        </p:nvSpPr>
        <p:spPr>
          <a:xfrm>
            <a:off x="7452360" y="1746504"/>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PK</a:t>
            </a:r>
          </a:p>
        </p:txBody>
      </p:sp>
      <p:sp>
        <p:nvSpPr>
          <p:cNvPr id="65" name="TextBox 64"/>
          <p:cNvSpPr txBox="1"/>
          <p:nvPr/>
        </p:nvSpPr>
        <p:spPr>
          <a:xfrm>
            <a:off x="6035040" y="1963521"/>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code</a:t>
            </a:r>
          </a:p>
        </p:txBody>
      </p:sp>
      <p:sp>
        <p:nvSpPr>
          <p:cNvPr id="66" name="TextBox 65"/>
          <p:cNvSpPr txBox="1"/>
          <p:nvPr/>
        </p:nvSpPr>
        <p:spPr>
          <a:xfrm>
            <a:off x="7452360" y="1963521"/>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67" name="TextBox 66"/>
          <p:cNvSpPr txBox="1"/>
          <p:nvPr/>
        </p:nvSpPr>
        <p:spPr>
          <a:xfrm>
            <a:off x="6035040" y="2180538"/>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name</a:t>
            </a:r>
          </a:p>
        </p:txBody>
      </p:sp>
      <p:sp>
        <p:nvSpPr>
          <p:cNvPr id="68" name="TextBox 67"/>
          <p:cNvSpPr txBox="1"/>
          <p:nvPr/>
        </p:nvSpPr>
        <p:spPr>
          <a:xfrm>
            <a:off x="7452360" y="2180538"/>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69" name="TextBox 68"/>
          <p:cNvSpPr txBox="1"/>
          <p:nvPr/>
        </p:nvSpPr>
        <p:spPr>
          <a:xfrm>
            <a:off x="6035040" y="2397555"/>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prereqs</a:t>
            </a:r>
          </a:p>
        </p:txBody>
      </p:sp>
      <p:sp>
        <p:nvSpPr>
          <p:cNvPr id="70" name="TextBox 69"/>
          <p:cNvSpPr txBox="1"/>
          <p:nvPr/>
        </p:nvSpPr>
        <p:spPr>
          <a:xfrm>
            <a:off x="7452360" y="2397555"/>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71" name="TextBox 70"/>
          <p:cNvSpPr txBox="1"/>
          <p:nvPr/>
        </p:nvSpPr>
        <p:spPr>
          <a:xfrm>
            <a:off x="6035040" y="2614572"/>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term_inferred</a:t>
            </a:r>
          </a:p>
        </p:txBody>
      </p:sp>
      <p:sp>
        <p:nvSpPr>
          <p:cNvPr id="72" name="TextBox 71"/>
          <p:cNvSpPr txBox="1"/>
          <p:nvPr/>
        </p:nvSpPr>
        <p:spPr>
          <a:xfrm>
            <a:off x="7452360" y="2614572"/>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73" name="Rectangle 72"/>
          <p:cNvSpPr/>
          <p:nvPr/>
        </p:nvSpPr>
        <p:spPr>
          <a:xfrm>
            <a:off x="5925312" y="3069336"/>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5925312" y="3069336"/>
            <a:ext cx="2487168" cy="292608"/>
          </a:xfrm>
          <a:prstGeom prst="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25312" y="3069336"/>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sections</a:t>
            </a:r>
          </a:p>
        </p:txBody>
      </p:sp>
      <p:sp>
        <p:nvSpPr>
          <p:cNvPr id="76" name="TextBox 75"/>
          <p:cNvSpPr txBox="1"/>
          <p:nvPr/>
        </p:nvSpPr>
        <p:spPr>
          <a:xfrm>
            <a:off x="6035040" y="3398520"/>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id</a:t>
            </a:r>
          </a:p>
        </p:txBody>
      </p:sp>
      <p:sp>
        <p:nvSpPr>
          <p:cNvPr id="77" name="TextBox 76"/>
          <p:cNvSpPr txBox="1"/>
          <p:nvPr/>
        </p:nvSpPr>
        <p:spPr>
          <a:xfrm>
            <a:off x="7452360" y="3398520"/>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PK</a:t>
            </a:r>
          </a:p>
        </p:txBody>
      </p:sp>
      <p:sp>
        <p:nvSpPr>
          <p:cNvPr id="78" name="TextBox 77"/>
          <p:cNvSpPr txBox="1"/>
          <p:nvPr/>
        </p:nvSpPr>
        <p:spPr>
          <a:xfrm>
            <a:off x="6035040" y="3615537"/>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term</a:t>
            </a:r>
          </a:p>
        </p:txBody>
      </p:sp>
      <p:sp>
        <p:nvSpPr>
          <p:cNvPr id="79" name="TextBox 78"/>
          <p:cNvSpPr txBox="1"/>
          <p:nvPr/>
        </p:nvSpPr>
        <p:spPr>
          <a:xfrm>
            <a:off x="7452360" y="3615537"/>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80" name="TextBox 79"/>
          <p:cNvSpPr txBox="1"/>
          <p:nvPr/>
        </p:nvSpPr>
        <p:spPr>
          <a:xfrm>
            <a:off x="6035040" y="3832554"/>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section_code</a:t>
            </a:r>
          </a:p>
        </p:txBody>
      </p:sp>
      <p:sp>
        <p:nvSpPr>
          <p:cNvPr id="81" name="TextBox 80"/>
          <p:cNvSpPr txBox="1"/>
          <p:nvPr/>
        </p:nvSpPr>
        <p:spPr>
          <a:xfrm>
            <a:off x="7452360" y="3832554"/>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82" name="TextBox 81"/>
          <p:cNvSpPr txBox="1"/>
          <p:nvPr/>
        </p:nvSpPr>
        <p:spPr>
          <a:xfrm>
            <a:off x="6035040" y="4049571"/>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days/times</a:t>
            </a:r>
          </a:p>
        </p:txBody>
      </p:sp>
      <p:sp>
        <p:nvSpPr>
          <p:cNvPr id="83" name="TextBox 82"/>
          <p:cNvSpPr txBox="1"/>
          <p:nvPr/>
        </p:nvSpPr>
        <p:spPr>
          <a:xfrm>
            <a:off x="7452360" y="4049571"/>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84" name="TextBox 83"/>
          <p:cNvSpPr txBox="1"/>
          <p:nvPr/>
        </p:nvSpPr>
        <p:spPr>
          <a:xfrm>
            <a:off x="6035040" y="4266588"/>
            <a:ext cx="1572768" cy="217017"/>
          </a:xfrm>
          <a:prstGeom prst="rect">
            <a:avLst/>
          </a:prstGeom>
          <a:noFill/>
        </p:spPr>
        <p:txBody>
          <a:bodyPr wrap="square" lIns="45720" tIns="0" rIns="45720" bIns="0" anchor="ctr">
            <a:spAutoFit/>
          </a:bodyPr>
          <a:lstStyle/>
          <a:p>
            <a:pPr algn="l"/>
            <a:r>
              <a:rPr sz="900" b="0" i="0">
                <a:solidFill>
                  <a:srgbClr val="2C3E52"/>
                </a:solidFill>
                <a:latin typeface="Consolas"/>
              </a:rPr>
              <a:t>session</a:t>
            </a:r>
          </a:p>
        </p:txBody>
      </p:sp>
      <p:sp>
        <p:nvSpPr>
          <p:cNvPr id="85" name="TextBox 84"/>
          <p:cNvSpPr txBox="1"/>
          <p:nvPr/>
        </p:nvSpPr>
        <p:spPr>
          <a:xfrm>
            <a:off x="7452360" y="4266588"/>
            <a:ext cx="868680" cy="217017"/>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86" name="Rectangle 85"/>
          <p:cNvSpPr/>
          <p:nvPr/>
        </p:nvSpPr>
        <p:spPr>
          <a:xfrm>
            <a:off x="5925312" y="4721352"/>
            <a:ext cx="2487168" cy="145084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925312" y="4721352"/>
            <a:ext cx="2487168" cy="292608"/>
          </a:xfrm>
          <a:prstGeom prst="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925312" y="4721352"/>
            <a:ext cx="2487168" cy="292608"/>
          </a:xfrm>
          <a:prstGeom prst="rect">
            <a:avLst/>
          </a:prstGeom>
          <a:noFill/>
        </p:spPr>
        <p:txBody>
          <a:bodyPr wrap="square" lIns="45720" tIns="0" rIns="45720" bIns="0" anchor="ctr">
            <a:spAutoFit/>
          </a:bodyPr>
          <a:lstStyle/>
          <a:p>
            <a:pPr algn="ctr"/>
            <a:r>
              <a:rPr sz="1100" b="1" i="0">
                <a:solidFill>
                  <a:srgbClr val="E2E8F0"/>
                </a:solidFill>
                <a:latin typeface="Consolas"/>
              </a:rPr>
              <a:t>session_calendar</a:t>
            </a:r>
          </a:p>
        </p:txBody>
      </p:sp>
      <p:sp>
        <p:nvSpPr>
          <p:cNvPr id="89" name="TextBox 88"/>
          <p:cNvSpPr txBox="1"/>
          <p:nvPr/>
        </p:nvSpPr>
        <p:spPr>
          <a:xfrm>
            <a:off x="6035040" y="5050536"/>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term</a:t>
            </a:r>
          </a:p>
        </p:txBody>
      </p:sp>
      <p:sp>
        <p:nvSpPr>
          <p:cNvPr id="90" name="TextBox 89"/>
          <p:cNvSpPr txBox="1"/>
          <p:nvPr/>
        </p:nvSpPr>
        <p:spPr>
          <a:xfrm>
            <a:off x="7452360" y="5050536"/>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91" name="TextBox 90"/>
          <p:cNvSpPr txBox="1"/>
          <p:nvPr/>
        </p:nvSpPr>
        <p:spPr>
          <a:xfrm>
            <a:off x="6035040" y="5321808"/>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session</a:t>
            </a:r>
          </a:p>
        </p:txBody>
      </p:sp>
      <p:sp>
        <p:nvSpPr>
          <p:cNvPr id="92" name="TextBox 91"/>
          <p:cNvSpPr txBox="1"/>
          <p:nvPr/>
        </p:nvSpPr>
        <p:spPr>
          <a:xfrm>
            <a:off x="7452360" y="5321808"/>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TEXT</a:t>
            </a:r>
          </a:p>
        </p:txBody>
      </p:sp>
      <p:sp>
        <p:nvSpPr>
          <p:cNvPr id="93" name="TextBox 92"/>
          <p:cNvSpPr txBox="1"/>
          <p:nvPr/>
        </p:nvSpPr>
        <p:spPr>
          <a:xfrm>
            <a:off x="6035040" y="5593080"/>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start_date</a:t>
            </a:r>
          </a:p>
        </p:txBody>
      </p:sp>
      <p:sp>
        <p:nvSpPr>
          <p:cNvPr id="94" name="TextBox 93"/>
          <p:cNvSpPr txBox="1"/>
          <p:nvPr/>
        </p:nvSpPr>
        <p:spPr>
          <a:xfrm>
            <a:off x="7452360" y="5593080"/>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DATE</a:t>
            </a:r>
          </a:p>
        </p:txBody>
      </p:sp>
      <p:sp>
        <p:nvSpPr>
          <p:cNvPr id="95" name="TextBox 94"/>
          <p:cNvSpPr txBox="1"/>
          <p:nvPr/>
        </p:nvSpPr>
        <p:spPr>
          <a:xfrm>
            <a:off x="6035040" y="5864352"/>
            <a:ext cx="1572768" cy="271272"/>
          </a:xfrm>
          <a:prstGeom prst="rect">
            <a:avLst/>
          </a:prstGeom>
          <a:noFill/>
        </p:spPr>
        <p:txBody>
          <a:bodyPr wrap="square" lIns="45720" tIns="0" rIns="45720" bIns="0" anchor="ctr">
            <a:spAutoFit/>
          </a:bodyPr>
          <a:lstStyle/>
          <a:p>
            <a:pPr algn="l"/>
            <a:r>
              <a:rPr sz="900" b="0" i="0">
                <a:solidFill>
                  <a:srgbClr val="2C3E52"/>
                </a:solidFill>
                <a:latin typeface="Consolas"/>
              </a:rPr>
              <a:t>end_date</a:t>
            </a:r>
          </a:p>
        </p:txBody>
      </p:sp>
      <p:sp>
        <p:nvSpPr>
          <p:cNvPr id="96" name="TextBox 95"/>
          <p:cNvSpPr txBox="1"/>
          <p:nvPr/>
        </p:nvSpPr>
        <p:spPr>
          <a:xfrm>
            <a:off x="7452360" y="5864352"/>
            <a:ext cx="868680" cy="271272"/>
          </a:xfrm>
          <a:prstGeom prst="rect">
            <a:avLst/>
          </a:prstGeom>
          <a:noFill/>
        </p:spPr>
        <p:txBody>
          <a:bodyPr wrap="square" lIns="45720" tIns="0" rIns="45720" bIns="0" anchor="ctr">
            <a:spAutoFit/>
          </a:bodyPr>
          <a:lstStyle/>
          <a:p>
            <a:pPr algn="r"/>
            <a:r>
              <a:rPr sz="900" b="0" i="0">
                <a:solidFill>
                  <a:srgbClr val="8899AA"/>
                </a:solidFill>
                <a:latin typeface="Consolas"/>
              </a:rPr>
              <a:t>DATE</a:t>
            </a:r>
          </a:p>
        </p:txBody>
      </p:sp>
      <p:cxnSp>
        <p:nvCxnSpPr>
          <p:cNvPr id="97" name="Connector 96"/>
          <p:cNvCxnSpPr/>
          <p:nvPr/>
        </p:nvCxnSpPr>
        <p:spPr>
          <a:xfrm>
            <a:off x="1792224" y="2868168"/>
            <a:ext cx="0" cy="201168"/>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3035808" y="2142744"/>
            <a:ext cx="201168" cy="0"/>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4480560" y="2868168"/>
            <a:ext cx="0" cy="201168"/>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724144" y="3794760"/>
            <a:ext cx="201168" cy="0"/>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7168896" y="2868168"/>
            <a:ext cx="0" cy="201168"/>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7168896" y="4520184"/>
            <a:ext cx="0" cy="201168"/>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438912" y="2142744"/>
            <a:ext cx="109728" cy="0"/>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438912" y="2142744"/>
            <a:ext cx="0" cy="3304032"/>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438912" y="5446776"/>
            <a:ext cx="109728" cy="0"/>
          </a:xfrm>
          <a:prstGeom prst="line">
            <a:avLst/>
          </a:prstGeom>
          <a:ln w="15875">
            <a:solidFill>
              <a:srgbClr val="1B2A4A"/>
            </a:solidFill>
          </a:ln>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8595360" y="1417320"/>
            <a:ext cx="310896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778240" y="1600200"/>
            <a:ext cx="2743200" cy="365760"/>
          </a:xfrm>
          <a:prstGeom prst="rect">
            <a:avLst/>
          </a:prstGeom>
          <a:noFill/>
        </p:spPr>
        <p:txBody>
          <a:bodyPr wrap="square" lIns="45720" tIns="0" rIns="45720" bIns="0" anchor="t">
            <a:spAutoFit/>
          </a:bodyPr>
          <a:lstStyle/>
          <a:p>
            <a:pPr algn="l"/>
            <a:r>
              <a:rPr sz="1400" b="1" i="0">
                <a:solidFill>
                  <a:srgbClr val="0A1628"/>
                </a:solidFill>
                <a:latin typeface="Segoe UI"/>
              </a:rPr>
              <a:t>8 tables, 1 SQLite file</a:t>
            </a:r>
          </a:p>
        </p:txBody>
      </p:sp>
      <p:sp>
        <p:nvSpPr>
          <p:cNvPr id="108" name="TextBox 107"/>
          <p:cNvSpPr txBox="1"/>
          <p:nvPr/>
        </p:nvSpPr>
        <p:spPr>
          <a:xfrm>
            <a:off x="8778240" y="2057400"/>
            <a:ext cx="2743200" cy="4023360"/>
          </a:xfrm>
          <a:prstGeom prst="rect">
            <a:avLst/>
          </a:prstGeom>
          <a:noFill/>
        </p:spPr>
        <p:txBody>
          <a:bodyPr wrap="square" lIns="45720" tIns="0" rIns="45720" bIns="0">
            <a:spAutoFit/>
          </a:bodyPr>
          <a:lstStyle/>
          <a:p>
            <a:pPr>
              <a:lnSpc>
                <a:spcPct val="115000"/>
              </a:lnSpc>
              <a:spcAft>
                <a:spcPts val="1000"/>
              </a:spcAft>
            </a:pPr>
            <a:r>
              <a:rPr sz="1200" b="0" i="0">
                <a:solidFill>
                  <a:srgbClr val="2C3E52"/>
                </a:solidFill>
                <a:latin typeface="Segoe UI"/>
              </a:rPr>
              <a:t>•  Catalog: courses + sections + session_calendar</a:t>
            </a:r>
          </a:p>
          <a:p>
            <a:pPr>
              <a:lnSpc>
                <a:spcPct val="115000"/>
              </a:lnSpc>
              <a:spcAft>
                <a:spcPts val="1000"/>
              </a:spcAft>
            </a:pPr>
            <a:r>
              <a:rPr sz="1200" b="0" i="0">
                <a:solidFill>
                  <a:srgbClr val="2C3E52"/>
                </a:solidFill>
                <a:latin typeface="Segoe UI"/>
              </a:rPr>
              <a:t>•  Auth: users (Werkzeug-hashed passwords)</a:t>
            </a:r>
          </a:p>
          <a:p>
            <a:pPr>
              <a:lnSpc>
                <a:spcPct val="115000"/>
              </a:lnSpc>
              <a:spcAft>
                <a:spcPts val="1000"/>
              </a:spcAft>
            </a:pPr>
            <a:r>
              <a:rPr sz="1200" b="0" i="0">
                <a:solidFill>
                  <a:srgbClr val="2C3E52"/>
                </a:solidFill>
                <a:latin typeface="Segoe UI"/>
              </a:rPr>
              <a:t>•  Profile: user_profiles holds parsed transcript JSON</a:t>
            </a:r>
          </a:p>
          <a:p>
            <a:pPr>
              <a:lnSpc>
                <a:spcPct val="115000"/>
              </a:lnSpc>
              <a:spcAft>
                <a:spcPts val="1000"/>
              </a:spcAft>
            </a:pPr>
            <a:r>
              <a:rPr sz="1200" b="0" i="0">
                <a:solidFill>
                  <a:srgbClr val="2C3E52"/>
                </a:solidFill>
                <a:latin typeface="Segoe UI"/>
              </a:rPr>
              <a:t>•  Schedules: schedule_scenarios + user_schedules per term</a:t>
            </a:r>
          </a:p>
          <a:p>
            <a:pPr>
              <a:lnSpc>
                <a:spcPct val="115000"/>
              </a:lnSpc>
              <a:spcAft>
                <a:spcPts val="1000"/>
              </a:spcAft>
            </a:pPr>
            <a:r>
              <a:rPr sz="1200" b="0" i="0">
                <a:solidFill>
                  <a:srgbClr val="2C3E52"/>
                </a:solidFill>
                <a:latin typeface="Segoe UI"/>
              </a:rPr>
              <a:t>•  Wishlist: course_wishlist</a:t>
            </a:r>
          </a:p>
          <a:p>
            <a:pPr>
              <a:lnSpc>
                <a:spcPct val="115000"/>
              </a:lnSpc>
              <a:spcAft>
                <a:spcPts val="1000"/>
              </a:spcAft>
            </a:pPr>
            <a:r>
              <a:rPr sz="1200" b="1" i="0">
                <a:solidFill>
                  <a:srgbClr val="0A1628"/>
                </a:solidFill>
                <a:latin typeface="Segoe UI"/>
              </a:rPr>
              <a:t>•  Scrapers update only their tables — accounts and saved schedules survive a re-scrape.</a:t>
            </a:r>
          </a:p>
        </p:txBody>
      </p:sp>
      <p:sp>
        <p:nvSpPr>
          <p:cNvPr id="109" name="TextBox 108"/>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6 / 10</a:t>
            </a:r>
          </a:p>
        </p:txBody>
      </p:sp>
      <p:sp>
        <p:nvSpPr>
          <p:cNvPr id="110" name="TextBox 109"/>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0972800" cy="457200"/>
          </a:xfrm>
          <a:prstGeom prst="rect">
            <a:avLst/>
          </a:prstGeom>
          <a:noFill/>
        </p:spPr>
        <p:txBody>
          <a:bodyPr wrap="square" lIns="45720" tIns="0" rIns="45720" bIns="0" anchor="t">
            <a:spAutoFit/>
          </a:bodyPr>
          <a:lstStyle/>
          <a:p>
            <a:pPr algn="l"/>
            <a:r>
              <a:rPr sz="1200" b="1" i="0">
                <a:solidFill>
                  <a:srgbClr val="E8562A"/>
                </a:solidFill>
                <a:latin typeface="Segoe UI"/>
              </a:rPr>
              <a:t>LIVE DEMO</a:t>
            </a:r>
          </a:p>
        </p:txBody>
      </p:sp>
      <p:sp>
        <p:nvSpPr>
          <p:cNvPr id="3" name="TextBox 2"/>
          <p:cNvSpPr txBox="1"/>
          <p:nvPr/>
        </p:nvSpPr>
        <p:spPr>
          <a:xfrm>
            <a:off x="548640" y="777240"/>
            <a:ext cx="10972800" cy="640080"/>
          </a:xfrm>
          <a:prstGeom prst="rect">
            <a:avLst/>
          </a:prstGeom>
          <a:noFill/>
        </p:spPr>
        <p:txBody>
          <a:bodyPr wrap="square" lIns="45720" tIns="0" rIns="45720" bIns="0" anchor="t">
            <a:spAutoFit/>
          </a:bodyPr>
          <a:lstStyle/>
          <a:p>
            <a:pPr algn="l"/>
            <a:r>
              <a:rPr sz="3000" b="1" i="0">
                <a:solidFill>
                  <a:srgbClr val="E2E8F0"/>
                </a:solidFill>
                <a:latin typeface="Segoe UI"/>
              </a:rPr>
              <a:t>Switching to the running app</a:t>
            </a:r>
          </a:p>
        </p:txBody>
      </p:sp>
      <p:sp>
        <p:nvSpPr>
          <p:cNvPr id="4" name="Rectangle 3"/>
          <p:cNvSpPr/>
          <p:nvPr/>
        </p:nvSpPr>
        <p:spPr>
          <a:xfrm>
            <a:off x="548640" y="141732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48640" y="1828800"/>
            <a:ext cx="640080" cy="640080"/>
          </a:xfrm>
          <a:prstGeom prst="ellipse">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E2E8F0"/>
                </a:solidFill>
                <a:latin typeface="Segoe UI"/>
              </a:rPr>
              <a:t>1</a:t>
            </a:r>
          </a:p>
        </p:txBody>
      </p:sp>
      <p:sp>
        <p:nvSpPr>
          <p:cNvPr id="6" name="TextBox 5"/>
          <p:cNvSpPr txBox="1"/>
          <p:nvPr/>
        </p:nvSpPr>
        <p:spPr>
          <a:xfrm>
            <a:off x="1371600" y="1828800"/>
            <a:ext cx="2743200" cy="411480"/>
          </a:xfrm>
          <a:prstGeom prst="rect">
            <a:avLst/>
          </a:prstGeom>
          <a:noFill/>
        </p:spPr>
        <p:txBody>
          <a:bodyPr wrap="square" lIns="45720" tIns="0" rIns="45720" bIns="0" anchor="t">
            <a:spAutoFit/>
          </a:bodyPr>
          <a:lstStyle/>
          <a:p>
            <a:pPr algn="l"/>
            <a:r>
              <a:rPr sz="2000" b="1" i="0">
                <a:solidFill>
                  <a:srgbClr val="E2E8F0"/>
                </a:solidFill>
                <a:latin typeface="Segoe UI"/>
              </a:rPr>
              <a:t>Schedule</a:t>
            </a:r>
          </a:p>
        </p:txBody>
      </p:sp>
      <p:sp>
        <p:nvSpPr>
          <p:cNvPr id="7" name="TextBox 6"/>
          <p:cNvSpPr txBox="1"/>
          <p:nvPr/>
        </p:nvSpPr>
        <p:spPr>
          <a:xfrm>
            <a:off x="1371600" y="2212848"/>
            <a:ext cx="10058400" cy="365760"/>
          </a:xfrm>
          <a:prstGeom prst="rect">
            <a:avLst/>
          </a:prstGeom>
          <a:noFill/>
        </p:spPr>
        <p:txBody>
          <a:bodyPr wrap="square" lIns="45720" tIns="0" rIns="45720" bIns="0" anchor="t">
            <a:spAutoFit/>
          </a:bodyPr>
          <a:lstStyle/>
          <a:p>
            <a:pPr algn="l"/>
            <a:r>
              <a:rPr sz="1400" b="0" i="0">
                <a:solidFill>
                  <a:srgbClr val="8899AA"/>
                </a:solidFill>
                <a:latin typeface="Segoe UI"/>
              </a:rPr>
              <a:t>Pick a term, search/filter, add a section, trigger a conflict.</a:t>
            </a:r>
          </a:p>
        </p:txBody>
      </p:sp>
      <p:sp>
        <p:nvSpPr>
          <p:cNvPr id="8" name="Oval 7"/>
          <p:cNvSpPr/>
          <p:nvPr/>
        </p:nvSpPr>
        <p:spPr>
          <a:xfrm>
            <a:off x="548640" y="2697480"/>
            <a:ext cx="640080" cy="640080"/>
          </a:xfrm>
          <a:prstGeom prst="ellipse">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E2E8F0"/>
                </a:solidFill>
                <a:latin typeface="Segoe UI"/>
              </a:rPr>
              <a:t>2</a:t>
            </a:r>
          </a:p>
        </p:txBody>
      </p:sp>
      <p:sp>
        <p:nvSpPr>
          <p:cNvPr id="9" name="TextBox 8"/>
          <p:cNvSpPr txBox="1"/>
          <p:nvPr/>
        </p:nvSpPr>
        <p:spPr>
          <a:xfrm>
            <a:off x="1371600" y="2697480"/>
            <a:ext cx="2743200" cy="411480"/>
          </a:xfrm>
          <a:prstGeom prst="rect">
            <a:avLst/>
          </a:prstGeom>
          <a:noFill/>
        </p:spPr>
        <p:txBody>
          <a:bodyPr wrap="square" lIns="45720" tIns="0" rIns="45720" bIns="0" anchor="t">
            <a:spAutoFit/>
          </a:bodyPr>
          <a:lstStyle/>
          <a:p>
            <a:pPr algn="l"/>
            <a:r>
              <a:rPr sz="2000" b="1" i="0">
                <a:solidFill>
                  <a:srgbClr val="E2E8F0"/>
                </a:solidFill>
                <a:latin typeface="Segoe UI"/>
              </a:rPr>
              <a:t>Profile</a:t>
            </a:r>
          </a:p>
        </p:txBody>
      </p:sp>
      <p:sp>
        <p:nvSpPr>
          <p:cNvPr id="10" name="TextBox 9"/>
          <p:cNvSpPr txBox="1"/>
          <p:nvPr/>
        </p:nvSpPr>
        <p:spPr>
          <a:xfrm>
            <a:off x="1371600" y="3081528"/>
            <a:ext cx="10058400" cy="365760"/>
          </a:xfrm>
          <a:prstGeom prst="rect">
            <a:avLst/>
          </a:prstGeom>
          <a:noFill/>
        </p:spPr>
        <p:txBody>
          <a:bodyPr wrap="square" lIns="45720" tIns="0" rIns="45720" bIns="0" anchor="t">
            <a:spAutoFit/>
          </a:bodyPr>
          <a:lstStyle/>
          <a:p>
            <a:pPr algn="l"/>
            <a:r>
              <a:rPr sz="1400" b="0" i="0">
                <a:solidFill>
                  <a:srgbClr val="8899AA"/>
                </a:solidFill>
                <a:latin typeface="Segoe UI"/>
              </a:rPr>
              <a:t>Upload a transcript PDF — parsed in memory only.</a:t>
            </a:r>
          </a:p>
        </p:txBody>
      </p:sp>
      <p:sp>
        <p:nvSpPr>
          <p:cNvPr id="11" name="Oval 10"/>
          <p:cNvSpPr/>
          <p:nvPr/>
        </p:nvSpPr>
        <p:spPr>
          <a:xfrm>
            <a:off x="548640" y="3566160"/>
            <a:ext cx="640080" cy="640080"/>
          </a:xfrm>
          <a:prstGeom prst="ellipse">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E2E8F0"/>
                </a:solidFill>
                <a:latin typeface="Segoe UI"/>
              </a:rPr>
              <a:t>3</a:t>
            </a:r>
          </a:p>
        </p:txBody>
      </p:sp>
      <p:sp>
        <p:nvSpPr>
          <p:cNvPr id="12" name="TextBox 11"/>
          <p:cNvSpPr txBox="1"/>
          <p:nvPr/>
        </p:nvSpPr>
        <p:spPr>
          <a:xfrm>
            <a:off x="1371600" y="3566160"/>
            <a:ext cx="2743200" cy="411480"/>
          </a:xfrm>
          <a:prstGeom prst="rect">
            <a:avLst/>
          </a:prstGeom>
          <a:noFill/>
        </p:spPr>
        <p:txBody>
          <a:bodyPr wrap="square" lIns="45720" tIns="0" rIns="45720" bIns="0" anchor="t">
            <a:spAutoFit/>
          </a:bodyPr>
          <a:lstStyle/>
          <a:p>
            <a:pPr algn="l"/>
            <a:r>
              <a:rPr sz="2000" b="1" i="0">
                <a:solidFill>
                  <a:srgbClr val="E2E8F0"/>
                </a:solidFill>
                <a:latin typeface="Segoe UI"/>
              </a:rPr>
              <a:t>Progress</a:t>
            </a:r>
          </a:p>
        </p:txBody>
      </p:sp>
      <p:sp>
        <p:nvSpPr>
          <p:cNvPr id="13" name="TextBox 12"/>
          <p:cNvSpPr txBox="1"/>
          <p:nvPr/>
        </p:nvSpPr>
        <p:spPr>
          <a:xfrm>
            <a:off x="1371600" y="3950208"/>
            <a:ext cx="10058400" cy="365760"/>
          </a:xfrm>
          <a:prstGeom prst="rect">
            <a:avLst/>
          </a:prstGeom>
          <a:noFill/>
        </p:spPr>
        <p:txBody>
          <a:bodyPr wrap="square" lIns="45720" tIns="0" rIns="45720" bIns="0" anchor="t">
            <a:spAutoFit/>
          </a:bodyPr>
          <a:lstStyle/>
          <a:p>
            <a:pPr algn="l"/>
            <a:r>
              <a:rPr sz="1400" b="0" i="0">
                <a:solidFill>
                  <a:srgbClr val="8899AA"/>
                </a:solidFill>
                <a:latin typeface="Segoe UI"/>
              </a:rPr>
              <a:t>Completed / in-progress / remaining + manual override.</a:t>
            </a:r>
          </a:p>
        </p:txBody>
      </p:sp>
      <p:sp>
        <p:nvSpPr>
          <p:cNvPr id="14" name="Oval 13"/>
          <p:cNvSpPr/>
          <p:nvPr/>
        </p:nvSpPr>
        <p:spPr>
          <a:xfrm>
            <a:off x="548640" y="4434839"/>
            <a:ext cx="640080" cy="640080"/>
          </a:xfrm>
          <a:prstGeom prst="ellipse">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E2E8F0"/>
                </a:solidFill>
                <a:latin typeface="Segoe UI"/>
              </a:rPr>
              <a:t>4</a:t>
            </a:r>
          </a:p>
        </p:txBody>
      </p:sp>
      <p:sp>
        <p:nvSpPr>
          <p:cNvPr id="15" name="TextBox 14"/>
          <p:cNvSpPr txBox="1"/>
          <p:nvPr/>
        </p:nvSpPr>
        <p:spPr>
          <a:xfrm>
            <a:off x="1371600" y="4434839"/>
            <a:ext cx="2743200" cy="411480"/>
          </a:xfrm>
          <a:prstGeom prst="rect">
            <a:avLst/>
          </a:prstGeom>
          <a:noFill/>
        </p:spPr>
        <p:txBody>
          <a:bodyPr wrap="square" lIns="45720" tIns="0" rIns="45720" bIns="0" anchor="t">
            <a:spAutoFit/>
          </a:bodyPr>
          <a:lstStyle/>
          <a:p>
            <a:pPr algn="l"/>
            <a:r>
              <a:rPr sz="2000" b="1" i="0">
                <a:solidFill>
                  <a:srgbClr val="E2E8F0"/>
                </a:solidFill>
                <a:latin typeface="Segoe UI"/>
              </a:rPr>
              <a:t>Planner</a:t>
            </a:r>
          </a:p>
        </p:txBody>
      </p:sp>
      <p:sp>
        <p:nvSpPr>
          <p:cNvPr id="16" name="TextBox 15"/>
          <p:cNvSpPr txBox="1"/>
          <p:nvPr/>
        </p:nvSpPr>
        <p:spPr>
          <a:xfrm>
            <a:off x="1371600" y="4818887"/>
            <a:ext cx="10058400" cy="365760"/>
          </a:xfrm>
          <a:prstGeom prst="rect">
            <a:avLst/>
          </a:prstGeom>
          <a:noFill/>
        </p:spPr>
        <p:txBody>
          <a:bodyPr wrap="square" lIns="45720" tIns="0" rIns="45720" bIns="0" anchor="t">
            <a:spAutoFit/>
          </a:bodyPr>
          <a:lstStyle/>
          <a:p>
            <a:pPr algn="l"/>
            <a:r>
              <a:rPr sz="1400" b="0" i="0">
                <a:solidFill>
                  <a:srgbClr val="8899AA"/>
                </a:solidFill>
                <a:latin typeface="Segoe UI"/>
              </a:rPr>
              <a:t>Multi-term roll-up, graduation forecast, AI advisor button.</a:t>
            </a:r>
          </a:p>
        </p:txBody>
      </p:sp>
      <p:sp>
        <p:nvSpPr>
          <p:cNvPr id="17" name="Oval 16"/>
          <p:cNvSpPr/>
          <p:nvPr/>
        </p:nvSpPr>
        <p:spPr>
          <a:xfrm>
            <a:off x="548640" y="5303520"/>
            <a:ext cx="640080" cy="640080"/>
          </a:xfrm>
          <a:prstGeom prst="ellipse">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E2E8F0"/>
                </a:solidFill>
                <a:latin typeface="Segoe UI"/>
              </a:rPr>
              <a:t>5</a:t>
            </a:r>
          </a:p>
        </p:txBody>
      </p:sp>
      <p:sp>
        <p:nvSpPr>
          <p:cNvPr id="18" name="TextBox 17"/>
          <p:cNvSpPr txBox="1"/>
          <p:nvPr/>
        </p:nvSpPr>
        <p:spPr>
          <a:xfrm>
            <a:off x="1371600" y="5303520"/>
            <a:ext cx="2743200" cy="411480"/>
          </a:xfrm>
          <a:prstGeom prst="rect">
            <a:avLst/>
          </a:prstGeom>
          <a:noFill/>
        </p:spPr>
        <p:txBody>
          <a:bodyPr wrap="square" lIns="45720" tIns="0" rIns="45720" bIns="0" anchor="t">
            <a:spAutoFit/>
          </a:bodyPr>
          <a:lstStyle/>
          <a:p>
            <a:pPr algn="l"/>
            <a:r>
              <a:rPr sz="2000" b="1" i="0">
                <a:solidFill>
                  <a:srgbClr val="E2E8F0"/>
                </a:solidFill>
                <a:latin typeface="Segoe UI"/>
              </a:rPr>
              <a:t>Export .ics</a:t>
            </a:r>
          </a:p>
        </p:txBody>
      </p:sp>
      <p:sp>
        <p:nvSpPr>
          <p:cNvPr id="19" name="TextBox 18"/>
          <p:cNvSpPr txBox="1"/>
          <p:nvPr/>
        </p:nvSpPr>
        <p:spPr>
          <a:xfrm>
            <a:off x="1371600" y="5687568"/>
            <a:ext cx="10058400" cy="365760"/>
          </a:xfrm>
          <a:prstGeom prst="rect">
            <a:avLst/>
          </a:prstGeom>
          <a:noFill/>
        </p:spPr>
        <p:txBody>
          <a:bodyPr wrap="square" lIns="45720" tIns="0" rIns="45720" bIns="0" anchor="t">
            <a:spAutoFit/>
          </a:bodyPr>
          <a:lstStyle/>
          <a:p>
            <a:pPr algn="l"/>
            <a:r>
              <a:rPr sz="1400" b="0" i="0">
                <a:solidFill>
                  <a:srgbClr val="8899AA"/>
                </a:solidFill>
                <a:latin typeface="Segoe UI"/>
              </a:rPr>
              <a:t>Download the active schedule and open it in a real calendar.</a:t>
            </a:r>
          </a:p>
        </p:txBody>
      </p:sp>
      <p:sp>
        <p:nvSpPr>
          <p:cNvPr id="20" name="TextBox 19"/>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7 / 10</a:t>
            </a:r>
          </a:p>
        </p:txBody>
      </p:sp>
      <p:sp>
        <p:nvSpPr>
          <p:cNvPr id="21" name="TextBox 20"/>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THE INTERESTING BITS</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Python design highlights</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17320"/>
            <a:ext cx="548640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45920"/>
            <a:ext cx="4937760" cy="411480"/>
          </a:xfrm>
          <a:prstGeom prst="rect">
            <a:avLst/>
          </a:prstGeom>
          <a:noFill/>
        </p:spPr>
        <p:txBody>
          <a:bodyPr wrap="square" lIns="45720" tIns="0" rIns="45720" bIns="0" anchor="t">
            <a:spAutoFit/>
          </a:bodyPr>
          <a:lstStyle/>
          <a:p>
            <a:pPr algn="l"/>
            <a:r>
              <a:rPr sz="1500" b="1" i="0">
                <a:solidFill>
                  <a:srgbClr val="0A1628"/>
                </a:solidFill>
                <a:latin typeface="Segoe UI"/>
              </a:rPr>
              <a:t>Half-semester aware conflict detection</a:t>
            </a:r>
          </a:p>
        </p:txBody>
      </p:sp>
      <p:sp>
        <p:nvSpPr>
          <p:cNvPr id="7" name="TextBox 6"/>
          <p:cNvSpPr txBox="1"/>
          <p:nvPr/>
        </p:nvSpPr>
        <p:spPr>
          <a:xfrm>
            <a:off x="822960" y="2057400"/>
            <a:ext cx="4937760" cy="274320"/>
          </a:xfrm>
          <a:prstGeom prst="rect">
            <a:avLst/>
          </a:prstGeom>
          <a:noFill/>
        </p:spPr>
        <p:txBody>
          <a:bodyPr wrap="square" lIns="45720" tIns="0" rIns="45720" bIns="0" anchor="t">
            <a:spAutoFit/>
          </a:bodyPr>
          <a:lstStyle/>
          <a:p>
            <a:pPr algn="l"/>
            <a:r>
              <a:rPr sz="1000" b="0" i="1">
                <a:solidFill>
                  <a:srgbClr val="8899AA"/>
                </a:solidFill>
                <a:latin typeface="Consolas"/>
              </a:rPr>
              <a:t>scheduler/conflict.py</a:t>
            </a:r>
          </a:p>
        </p:txBody>
      </p:sp>
      <p:sp>
        <p:nvSpPr>
          <p:cNvPr id="8" name="Rectangle 7"/>
          <p:cNvSpPr/>
          <p:nvPr/>
        </p:nvSpPr>
        <p:spPr>
          <a:xfrm>
            <a:off x="822960" y="2377440"/>
            <a:ext cx="4937760" cy="2331720"/>
          </a:xfrm>
          <a:prstGeom prst="rect">
            <a:avLst/>
          </a:prstGeom>
          <a:solidFill>
            <a:srgbClr val="0A1628"/>
          </a:solidFill>
          <a:ln w="9525">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514600"/>
            <a:ext cx="4663440" cy="2103120"/>
          </a:xfrm>
          <a:prstGeom prst="rect">
            <a:avLst/>
          </a:prstGeom>
          <a:noFill/>
        </p:spPr>
        <p:txBody>
          <a:bodyPr wrap="square" lIns="45720" tIns="0" rIns="45720" bIns="0">
            <a:spAutoFit/>
          </a:bodyPr>
          <a:lstStyle/>
          <a:p>
            <a:pPr>
              <a:lnSpc>
                <a:spcPct val="120000"/>
              </a:lnSpc>
              <a:spcAft>
                <a:spcPts val="200"/>
              </a:spcAft>
            </a:pPr>
            <a:r>
              <a:rPr sz="1100" b="0" i="0">
                <a:solidFill>
                  <a:srgbClr val="E8562A"/>
                </a:solidFill>
                <a:latin typeface="Consolas"/>
              </a:rPr>
              <a:t>if is_half_semester(a['session']) \</a:t>
            </a:r>
          </a:p>
          <a:p>
            <a:pPr>
              <a:lnSpc>
                <a:spcPct val="120000"/>
              </a:lnSpc>
              <a:spcAft>
                <a:spcPts val="200"/>
              </a:spcAft>
            </a:pPr>
            <a:r>
              <a:rPr sz="1100" b="0" i="0">
                <a:solidFill>
                  <a:srgbClr val="E8562A"/>
                </a:solidFill>
                <a:latin typeface="Consolas"/>
              </a:rPr>
              <a:t>    and is_half_semester(b['session']):</a:t>
            </a:r>
          </a:p>
          <a:p>
            <a:pPr>
              <a:lnSpc>
                <a:spcPct val="120000"/>
              </a:lnSpc>
              <a:spcAft>
                <a:spcPts val="200"/>
              </a:spcAft>
            </a:pPr>
            <a:r>
              <a:rPr sz="1100" b="0" i="0">
                <a:solidFill>
                  <a:srgbClr val="E2E8F0"/>
                </a:solidFill>
                <a:latin typeface="Consolas"/>
              </a:rPr>
              <a:t>    a_w1 = 'W1' in a['session']</a:t>
            </a:r>
          </a:p>
          <a:p>
            <a:pPr>
              <a:lnSpc>
                <a:spcPct val="120000"/>
              </a:lnSpc>
              <a:spcAft>
                <a:spcPts val="200"/>
              </a:spcAft>
            </a:pPr>
            <a:r>
              <a:rPr sz="1100" b="0" i="0">
                <a:solidFill>
                  <a:srgbClr val="E2E8F0"/>
                </a:solidFill>
                <a:latin typeface="Consolas"/>
              </a:rPr>
              <a:t>    b_w1 = 'W1' in b['session']</a:t>
            </a:r>
          </a:p>
          <a:p>
            <a:pPr>
              <a:lnSpc>
                <a:spcPct val="120000"/>
              </a:lnSpc>
              <a:spcAft>
                <a:spcPts val="200"/>
              </a:spcAft>
            </a:pPr>
            <a:r>
              <a:rPr sz="1100" b="0" i="0">
                <a:solidFill>
                  <a:srgbClr val="E2E8F0"/>
                </a:solidFill>
                <a:latin typeface="Consolas"/>
              </a:rPr>
              <a:t>    if a_w1 != b_w1:</a:t>
            </a:r>
          </a:p>
          <a:p>
            <a:pPr>
              <a:lnSpc>
                <a:spcPct val="120000"/>
              </a:lnSpc>
              <a:spcAft>
                <a:spcPts val="200"/>
              </a:spcAft>
            </a:pPr>
            <a:r>
              <a:rPr sz="1100" b="0" i="0">
                <a:solidFill>
                  <a:srgbClr val="38A169"/>
                </a:solidFill>
                <a:latin typeface="Consolas"/>
              </a:rPr>
              <a:t>        return False  # 8W1 and 8W2</a:t>
            </a:r>
          </a:p>
          <a:p>
            <a:pPr>
              <a:lnSpc>
                <a:spcPct val="120000"/>
              </a:lnSpc>
              <a:spcAft>
                <a:spcPts val="200"/>
              </a:spcAft>
            </a:pPr>
            <a:r>
              <a:rPr sz="1100" b="0" i="0">
                <a:solidFill>
                  <a:srgbClr val="38A169"/>
                </a:solidFill>
                <a:latin typeface="Consolas"/>
              </a:rPr>
              <a:t>                       # never overlap</a:t>
            </a:r>
          </a:p>
          <a:p>
            <a:pPr>
              <a:lnSpc>
                <a:spcPct val="120000"/>
              </a:lnSpc>
              <a:spcAft>
                <a:spcPts val="200"/>
              </a:spcAft>
            </a:pPr>
            <a:r>
              <a:rPr sz="1100" b="0" i="0">
                <a:solidFill>
                  <a:srgbClr val="E2E8F0"/>
                </a:solidFill>
                <a:latin typeface="Consolas"/>
              </a:rPr>
              <a:t>return start_a &lt; end_b and start_b &lt; end_a</a:t>
            </a:r>
          </a:p>
        </p:txBody>
      </p:sp>
      <p:sp>
        <p:nvSpPr>
          <p:cNvPr id="10" name="TextBox 9"/>
          <p:cNvSpPr txBox="1"/>
          <p:nvPr/>
        </p:nvSpPr>
        <p:spPr>
          <a:xfrm>
            <a:off x="822960" y="4892040"/>
            <a:ext cx="4937760" cy="1097280"/>
          </a:xfrm>
          <a:prstGeom prst="rect">
            <a:avLst/>
          </a:prstGeom>
          <a:noFill/>
        </p:spPr>
        <p:txBody>
          <a:bodyPr wrap="square" lIns="45720" tIns="0" rIns="45720" bIns="0" anchor="t">
            <a:spAutoFit/>
          </a:bodyPr>
          <a:lstStyle/>
          <a:p>
            <a:pPr algn="l"/>
            <a:r>
              <a:rPr sz="1200" b="0" i="0">
                <a:solidFill>
                  <a:srgbClr val="2C3E52"/>
                </a:solidFill>
                <a:latin typeface="Segoe UI"/>
              </a:rPr>
              <a:t>Two 8-week sessions in the same term don't actually run at the same time, so the app refuses to false-flag them.</a:t>
            </a:r>
          </a:p>
        </p:txBody>
      </p:sp>
      <p:sp>
        <p:nvSpPr>
          <p:cNvPr id="11" name="Rectangle 10"/>
          <p:cNvSpPr/>
          <p:nvPr/>
        </p:nvSpPr>
        <p:spPr>
          <a:xfrm>
            <a:off x="6355080" y="1417320"/>
            <a:ext cx="548640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645920"/>
            <a:ext cx="4937760" cy="411480"/>
          </a:xfrm>
          <a:prstGeom prst="rect">
            <a:avLst/>
          </a:prstGeom>
          <a:noFill/>
        </p:spPr>
        <p:txBody>
          <a:bodyPr wrap="square" lIns="45720" tIns="0" rIns="45720" bIns="0" anchor="t">
            <a:spAutoFit/>
          </a:bodyPr>
          <a:lstStyle/>
          <a:p>
            <a:pPr algn="l"/>
            <a:r>
              <a:rPr sz="1500" b="1" i="0">
                <a:solidFill>
                  <a:srgbClr val="0A1628"/>
                </a:solidFill>
                <a:latin typeface="Segoe UI"/>
              </a:rPr>
              <a:t>AI advisor with graceful fallback</a:t>
            </a:r>
          </a:p>
        </p:txBody>
      </p:sp>
      <p:sp>
        <p:nvSpPr>
          <p:cNvPr id="13" name="TextBox 12"/>
          <p:cNvSpPr txBox="1"/>
          <p:nvPr/>
        </p:nvSpPr>
        <p:spPr>
          <a:xfrm>
            <a:off x="6629400" y="2057400"/>
            <a:ext cx="4937760" cy="274320"/>
          </a:xfrm>
          <a:prstGeom prst="rect">
            <a:avLst/>
          </a:prstGeom>
          <a:noFill/>
        </p:spPr>
        <p:txBody>
          <a:bodyPr wrap="square" lIns="45720" tIns="0" rIns="45720" bIns="0" anchor="t">
            <a:spAutoFit/>
          </a:bodyPr>
          <a:lstStyle/>
          <a:p>
            <a:pPr algn="l"/>
            <a:r>
              <a:rPr sz="1000" b="0" i="1">
                <a:solidFill>
                  <a:srgbClr val="8899AA"/>
                </a:solidFill>
                <a:latin typeface="Consolas"/>
              </a:rPr>
              <a:t>scheduler/app.py · _call_ai_planner_advisor</a:t>
            </a:r>
          </a:p>
        </p:txBody>
      </p:sp>
      <p:sp>
        <p:nvSpPr>
          <p:cNvPr id="14" name="Rectangle 13"/>
          <p:cNvSpPr/>
          <p:nvPr/>
        </p:nvSpPr>
        <p:spPr>
          <a:xfrm>
            <a:off x="6629400" y="2377440"/>
            <a:ext cx="4937760" cy="2331720"/>
          </a:xfrm>
          <a:prstGeom prst="rect">
            <a:avLst/>
          </a:prstGeom>
          <a:solidFill>
            <a:srgbClr val="0A1628"/>
          </a:solidFill>
          <a:ln w="9525">
            <a:solidFill>
              <a:srgbClr val="0A16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0" y="2514600"/>
            <a:ext cx="4663440" cy="2103120"/>
          </a:xfrm>
          <a:prstGeom prst="rect">
            <a:avLst/>
          </a:prstGeom>
          <a:noFill/>
        </p:spPr>
        <p:txBody>
          <a:bodyPr wrap="square" lIns="45720" tIns="0" rIns="45720" bIns="0">
            <a:spAutoFit/>
          </a:bodyPr>
          <a:lstStyle/>
          <a:p>
            <a:pPr>
              <a:lnSpc>
                <a:spcPct val="120000"/>
              </a:lnSpc>
              <a:spcAft>
                <a:spcPts val="200"/>
              </a:spcAft>
            </a:pPr>
            <a:r>
              <a:rPr sz="1100" b="0" i="0">
                <a:solidFill>
                  <a:srgbClr val="E2E8F0"/>
                </a:solidFill>
                <a:latin typeface="Consolas"/>
              </a:rPr>
              <a:t>api_key = os.environ.get('ANTHROPIC_API_KEY')</a:t>
            </a:r>
          </a:p>
          <a:p>
            <a:pPr>
              <a:lnSpc>
                <a:spcPct val="120000"/>
              </a:lnSpc>
              <a:spcAft>
                <a:spcPts val="200"/>
              </a:spcAft>
            </a:pPr>
            <a:r>
              <a:rPr sz="1100" b="0" i="0">
                <a:solidFill>
                  <a:srgbClr val="E8562A"/>
                </a:solidFill>
                <a:latin typeface="Consolas"/>
              </a:rPr>
              <a:t>if not api_key:</a:t>
            </a:r>
          </a:p>
          <a:p>
            <a:pPr>
              <a:lnSpc>
                <a:spcPct val="120000"/>
              </a:lnSpc>
              <a:spcAft>
                <a:spcPts val="200"/>
              </a:spcAft>
            </a:pPr>
            <a:r>
              <a:rPr sz="1100" b="0" i="0">
                <a:solidFill>
                  <a:srgbClr val="38A169"/>
                </a:solidFill>
                <a:latin typeface="Consolas"/>
              </a:rPr>
              <a:t>    return None  # caller uses local rules</a:t>
            </a:r>
          </a:p>
          <a:p>
            <a:pPr>
              <a:lnSpc>
                <a:spcPct val="120000"/>
              </a:lnSpc>
              <a:spcAft>
                <a:spcPts val="200"/>
              </a:spcAft>
            </a:pPr>
            <a:endParaRPr sz="1100" b="0" i="0">
              <a:solidFill>
                <a:srgbClr val="38A169"/>
              </a:solidFill>
              <a:latin typeface="Consolas"/>
            </a:endParaRPr>
          </a:p>
          <a:p>
            <a:pPr>
              <a:lnSpc>
                <a:spcPct val="120000"/>
              </a:lnSpc>
              <a:spcAft>
                <a:spcPts val="200"/>
              </a:spcAft>
            </a:pPr>
            <a:r>
              <a:rPr sz="1100" b="0" i="0">
                <a:solidFill>
                  <a:srgbClr val="E2E8F0"/>
                </a:solidFill>
                <a:latin typeface="Consolas"/>
              </a:rPr>
              <a:t>payload = {</a:t>
            </a:r>
          </a:p>
          <a:p>
            <a:pPr>
              <a:lnSpc>
                <a:spcPct val="120000"/>
              </a:lnSpc>
              <a:spcAft>
                <a:spcPts val="200"/>
              </a:spcAft>
            </a:pPr>
            <a:r>
              <a:rPr sz="1100" b="0" i="0">
                <a:solidFill>
                  <a:srgbClr val="E2E8F0"/>
                </a:solidFill>
                <a:latin typeface="Consolas"/>
              </a:rPr>
              <a:t>  'model': model,</a:t>
            </a:r>
          </a:p>
          <a:p>
            <a:pPr>
              <a:lnSpc>
                <a:spcPct val="120000"/>
              </a:lnSpc>
              <a:spcAft>
                <a:spcPts val="200"/>
              </a:spcAft>
            </a:pPr>
            <a:r>
              <a:rPr sz="1100" b="0" i="0">
                <a:solidFill>
                  <a:srgbClr val="E2E8F0"/>
                </a:solidFill>
                <a:latin typeface="Consolas"/>
              </a:rPr>
              <a:t>  'messages': _messages_for(context),</a:t>
            </a:r>
          </a:p>
          <a:p>
            <a:pPr>
              <a:lnSpc>
                <a:spcPct val="120000"/>
              </a:lnSpc>
              <a:spcAft>
                <a:spcPts val="200"/>
              </a:spcAft>
            </a:pPr>
            <a:r>
              <a:rPr sz="1100" b="0" i="0">
                <a:solidFill>
                  <a:srgbClr val="E2E8F0"/>
                </a:solidFill>
                <a:latin typeface="Consolas"/>
              </a:rPr>
              <a:t>  'max_tokens': 450,</a:t>
            </a:r>
          </a:p>
          <a:p>
            <a:pPr>
              <a:lnSpc>
                <a:spcPct val="120000"/>
              </a:lnSpc>
              <a:spcAft>
                <a:spcPts val="200"/>
              </a:spcAft>
            </a:pPr>
            <a:r>
              <a:rPr sz="1100" b="0" i="0">
                <a:solidFill>
                  <a:srgbClr val="E2E8F0"/>
                </a:solidFill>
                <a:latin typeface="Consolas"/>
              </a:rPr>
              <a:t>}</a:t>
            </a:r>
          </a:p>
        </p:txBody>
      </p:sp>
      <p:sp>
        <p:nvSpPr>
          <p:cNvPr id="16" name="TextBox 15"/>
          <p:cNvSpPr txBox="1"/>
          <p:nvPr/>
        </p:nvSpPr>
        <p:spPr>
          <a:xfrm>
            <a:off x="6629400" y="4892040"/>
            <a:ext cx="4937760" cy="1097280"/>
          </a:xfrm>
          <a:prstGeom prst="rect">
            <a:avLst/>
          </a:prstGeom>
          <a:noFill/>
        </p:spPr>
        <p:txBody>
          <a:bodyPr wrap="square" lIns="45720" tIns="0" rIns="45720" bIns="0" anchor="t">
            <a:spAutoFit/>
          </a:bodyPr>
          <a:lstStyle/>
          <a:p>
            <a:pPr algn="l"/>
            <a:r>
              <a:rPr sz="1200" b="0" i="0">
                <a:solidFill>
                  <a:srgbClr val="2C3E52"/>
                </a:solidFill>
                <a:latin typeface="Segoe UI"/>
              </a:rPr>
              <a:t>No key, no problem: the endpoint switches to rule-based advice so the feature still works in a live demo or on a grader's machine.</a:t>
            </a:r>
          </a:p>
        </p:txBody>
      </p:sp>
      <p:sp>
        <p:nvSpPr>
          <p:cNvPr id="17" name="TextBox 16"/>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8 / 10</a:t>
            </a:r>
          </a:p>
        </p:txBody>
      </p:sp>
      <p:sp>
        <p:nvSpPr>
          <p:cNvPr id="18" name="TextBox 17"/>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QUALITY</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Testing &amp; data safety</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17320"/>
            <a:ext cx="548640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45920"/>
            <a:ext cx="5486400" cy="365760"/>
          </a:xfrm>
          <a:prstGeom prst="rect">
            <a:avLst/>
          </a:prstGeom>
          <a:noFill/>
        </p:spPr>
        <p:txBody>
          <a:bodyPr wrap="square" lIns="45720" tIns="0" rIns="45720" bIns="0" anchor="t">
            <a:spAutoFit/>
          </a:bodyPr>
          <a:lstStyle/>
          <a:p>
            <a:pPr algn="l"/>
            <a:r>
              <a:rPr sz="1500" b="1" i="0">
                <a:solidFill>
                  <a:srgbClr val="0A1628"/>
                </a:solidFill>
                <a:latin typeface="Segoe UI"/>
              </a:rPr>
              <a:t>What the suite covers</a:t>
            </a:r>
          </a:p>
        </p:txBody>
      </p:sp>
      <p:sp>
        <p:nvSpPr>
          <p:cNvPr id="7" name="Rectangle 6"/>
          <p:cNvSpPr/>
          <p:nvPr/>
        </p:nvSpPr>
        <p:spPr>
          <a:xfrm>
            <a:off x="822960" y="205740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286000"/>
            <a:ext cx="4937760" cy="3200400"/>
          </a:xfrm>
          <a:prstGeom prst="rect">
            <a:avLst/>
          </a:prstGeom>
          <a:noFill/>
        </p:spPr>
        <p:txBody>
          <a:bodyPr wrap="square" lIns="45720" tIns="0" rIns="45720" bIns="0">
            <a:spAutoFit/>
          </a:bodyPr>
          <a:lstStyle/>
          <a:p>
            <a:pPr>
              <a:lnSpc>
                <a:spcPct val="115000"/>
              </a:lnSpc>
              <a:spcAft>
                <a:spcPts val="800"/>
              </a:spcAft>
            </a:pPr>
            <a:r>
              <a:rPr sz="1200" b="0" i="0">
                <a:solidFill>
                  <a:srgbClr val="2C3E52"/>
                </a:solidFill>
                <a:latin typeface="Consolas"/>
              </a:rPr>
              <a:t>•  tests/test_prereqs.py — prereq parser ('SUBJ ####' forms, AND/OR)</a:t>
            </a:r>
          </a:p>
          <a:p>
            <a:pPr>
              <a:lnSpc>
                <a:spcPct val="115000"/>
              </a:lnSpc>
              <a:spcAft>
                <a:spcPts val="800"/>
              </a:spcAft>
            </a:pPr>
            <a:r>
              <a:rPr sz="1200" b="0" i="0">
                <a:solidFill>
                  <a:srgbClr val="2C3E52"/>
                </a:solidFill>
                <a:latin typeface="Consolas"/>
              </a:rPr>
              <a:t>•  tests/test_planner_api.py — overview, target credits, term timeline</a:t>
            </a:r>
          </a:p>
          <a:p>
            <a:pPr>
              <a:lnSpc>
                <a:spcPct val="115000"/>
              </a:lnSpc>
              <a:spcAft>
                <a:spcPts val="800"/>
              </a:spcAft>
            </a:pPr>
            <a:r>
              <a:rPr sz="1200" b="0" i="0">
                <a:solidFill>
                  <a:srgbClr val="2C3E52"/>
                </a:solidFill>
                <a:latin typeface="Consolas"/>
              </a:rPr>
              <a:t>•  tests/test_scenarios.py — create / duplicate / rename / delete / activate</a:t>
            </a:r>
          </a:p>
          <a:p>
            <a:pPr>
              <a:lnSpc>
                <a:spcPct val="115000"/>
              </a:lnSpc>
              <a:spcAft>
                <a:spcPts val="800"/>
              </a:spcAft>
            </a:pPr>
            <a:r>
              <a:rPr sz="1200" b="0" i="0">
                <a:solidFill>
                  <a:srgbClr val="2C3E52"/>
                </a:solidFill>
                <a:latin typeface="Consolas"/>
              </a:rPr>
              <a:t>•  tests/test_progress_overview.py — degree-progress summary endpoint</a:t>
            </a:r>
          </a:p>
          <a:p>
            <a:pPr>
              <a:lnSpc>
                <a:spcPct val="115000"/>
              </a:lnSpc>
              <a:spcAft>
                <a:spcPts val="800"/>
              </a:spcAft>
            </a:pPr>
            <a:r>
              <a:rPr sz="1200" b="0" i="0">
                <a:solidFill>
                  <a:srgbClr val="2C3E52"/>
                </a:solidFill>
                <a:latin typeface="Consolas"/>
              </a:rPr>
              <a:t>•  tests/test_account_api.py — register / login / change password / delete</a:t>
            </a:r>
          </a:p>
          <a:p>
            <a:pPr>
              <a:lnSpc>
                <a:spcPct val="115000"/>
              </a:lnSpc>
              <a:spcAft>
                <a:spcPts val="800"/>
              </a:spcAft>
            </a:pPr>
            <a:r>
              <a:rPr sz="1200" b="0" i="0">
                <a:solidFill>
                  <a:srgbClr val="2C3E52"/>
                </a:solidFill>
                <a:latin typeface="Consolas"/>
              </a:rPr>
              <a:t>•  tests/test_program_requirements.py — scraped program review tables</a:t>
            </a:r>
          </a:p>
        </p:txBody>
      </p:sp>
      <p:sp>
        <p:nvSpPr>
          <p:cNvPr id="9" name="Rectangle 8"/>
          <p:cNvSpPr/>
          <p:nvPr/>
        </p:nvSpPr>
        <p:spPr>
          <a:xfrm>
            <a:off x="822960" y="5440680"/>
            <a:ext cx="4937760" cy="50292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5532120"/>
            <a:ext cx="4663440" cy="365760"/>
          </a:xfrm>
          <a:prstGeom prst="rect">
            <a:avLst/>
          </a:prstGeom>
          <a:noFill/>
        </p:spPr>
        <p:txBody>
          <a:bodyPr wrap="square" lIns="45720" tIns="0" rIns="45720" bIns="0" anchor="t">
            <a:spAutoFit/>
          </a:bodyPr>
          <a:lstStyle/>
          <a:p>
            <a:pPr algn="l"/>
            <a:r>
              <a:rPr sz="1400" b="1" i="0" dirty="0">
                <a:solidFill>
                  <a:srgbClr val="E8562A"/>
                </a:solidFill>
                <a:latin typeface="Consolas"/>
              </a:rPr>
              <a:t>python -m </a:t>
            </a:r>
            <a:r>
              <a:rPr sz="1400" b="1" i="0" dirty="0" err="1">
                <a:solidFill>
                  <a:srgbClr val="E8562A"/>
                </a:solidFill>
                <a:latin typeface="Consolas"/>
              </a:rPr>
              <a:t>pytest</a:t>
            </a:r>
            <a:r>
              <a:rPr sz="1400" b="1" i="0" dirty="0">
                <a:solidFill>
                  <a:srgbClr val="E8562A"/>
                </a:solidFill>
                <a:latin typeface="Consolas"/>
              </a:rPr>
              <a:t> tests/ -v</a:t>
            </a:r>
          </a:p>
        </p:txBody>
      </p:sp>
      <p:sp>
        <p:nvSpPr>
          <p:cNvPr id="11" name="Rectangle 10"/>
          <p:cNvSpPr/>
          <p:nvPr/>
        </p:nvSpPr>
        <p:spPr>
          <a:xfrm>
            <a:off x="6355080" y="1417320"/>
            <a:ext cx="5486400" cy="47548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645920"/>
            <a:ext cx="5486400" cy="365760"/>
          </a:xfrm>
          <a:prstGeom prst="rect">
            <a:avLst/>
          </a:prstGeom>
          <a:noFill/>
        </p:spPr>
        <p:txBody>
          <a:bodyPr wrap="square" lIns="45720" tIns="0" rIns="45720" bIns="0" anchor="t">
            <a:spAutoFit/>
          </a:bodyPr>
          <a:lstStyle/>
          <a:p>
            <a:pPr algn="l"/>
            <a:r>
              <a:rPr sz="1500" b="1" i="0">
                <a:solidFill>
                  <a:srgbClr val="0A1628"/>
                </a:solidFill>
                <a:latin typeface="Segoe UI"/>
              </a:rPr>
              <a:t>Last green run</a:t>
            </a:r>
          </a:p>
        </p:txBody>
      </p:sp>
      <p:sp>
        <p:nvSpPr>
          <p:cNvPr id="13" name="Rectangle 12"/>
          <p:cNvSpPr/>
          <p:nvPr/>
        </p:nvSpPr>
        <p:spPr>
          <a:xfrm>
            <a:off x="6629400" y="2057400"/>
            <a:ext cx="548640" cy="36576"/>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2286000"/>
            <a:ext cx="4937760" cy="2377440"/>
          </a:xfrm>
          <a:prstGeom prst="rect">
            <a:avLst/>
          </a:prstGeom>
          <a:solidFill>
            <a:srgbClr val="F0F2F5"/>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i="1">
                <a:solidFill>
                  <a:srgbClr val="8899AA"/>
                </a:solidFill>
                <a:latin typeface="Segoe UI"/>
              </a:rPr>
              <a:t>Screenshot:
`python -m pytest tests/ -v`
(green run)</a:t>
            </a:r>
          </a:p>
        </p:txBody>
      </p:sp>
      <p:sp>
        <p:nvSpPr>
          <p:cNvPr id="15" name="TextBox 14"/>
          <p:cNvSpPr txBox="1"/>
          <p:nvPr/>
        </p:nvSpPr>
        <p:spPr>
          <a:xfrm>
            <a:off x="6629400" y="4800600"/>
            <a:ext cx="5486400" cy="365760"/>
          </a:xfrm>
          <a:prstGeom prst="rect">
            <a:avLst/>
          </a:prstGeom>
          <a:noFill/>
        </p:spPr>
        <p:txBody>
          <a:bodyPr wrap="square" lIns="45720" tIns="0" rIns="45720" bIns="0" anchor="t">
            <a:spAutoFit/>
          </a:bodyPr>
          <a:lstStyle/>
          <a:p>
            <a:pPr algn="l"/>
            <a:r>
              <a:rPr sz="1300" b="1" i="0">
                <a:solidFill>
                  <a:srgbClr val="0A1628"/>
                </a:solidFill>
                <a:latin typeface="Segoe UI"/>
              </a:rPr>
              <a:t>Data safety</a:t>
            </a:r>
          </a:p>
        </p:txBody>
      </p:sp>
      <p:sp>
        <p:nvSpPr>
          <p:cNvPr id="16" name="TextBox 15"/>
          <p:cNvSpPr txBox="1"/>
          <p:nvPr/>
        </p:nvSpPr>
        <p:spPr>
          <a:xfrm>
            <a:off x="6629400" y="5166360"/>
            <a:ext cx="4937760" cy="1280160"/>
          </a:xfrm>
          <a:prstGeom prst="rect">
            <a:avLst/>
          </a:prstGeom>
          <a:noFill/>
        </p:spPr>
        <p:txBody>
          <a:bodyPr wrap="square" lIns="45720" tIns="0" rIns="45720" bIns="0">
            <a:spAutoFit/>
          </a:bodyPr>
          <a:lstStyle/>
          <a:p>
            <a:pPr>
              <a:lnSpc>
                <a:spcPct val="115000"/>
              </a:lnSpc>
              <a:spcAft>
                <a:spcPts val="400"/>
              </a:spcAft>
            </a:pPr>
            <a:r>
              <a:rPr sz="1100" b="0" i="0">
                <a:solidFill>
                  <a:srgbClr val="2C3E52"/>
                </a:solidFill>
                <a:latin typeface="Segoe UI"/>
              </a:rPr>
              <a:t>•  --backup-db copies the whole SQLite file before a catalog refresh.</a:t>
            </a:r>
          </a:p>
          <a:p>
            <a:pPr>
              <a:lnSpc>
                <a:spcPct val="115000"/>
              </a:lnSpc>
              <a:spcAft>
                <a:spcPts val="400"/>
              </a:spcAft>
            </a:pPr>
            <a:r>
              <a:rPr sz="1100" b="0" i="0">
                <a:solidFill>
                  <a:srgbClr val="2C3E52"/>
                </a:solidFill>
                <a:latin typeface="Segoe UI"/>
              </a:rPr>
              <a:t>•  Scrapers update only their own tables — accounts, schedules, profiles stay put.</a:t>
            </a:r>
          </a:p>
          <a:p>
            <a:pPr>
              <a:lnSpc>
                <a:spcPct val="115000"/>
              </a:lnSpc>
              <a:spcAft>
                <a:spcPts val="400"/>
              </a:spcAft>
            </a:pPr>
            <a:r>
              <a:rPr sz="1100" b="0" i="0">
                <a:solidFill>
                  <a:srgbClr val="2C3E52"/>
                </a:solidFill>
                <a:latin typeface="Segoe UI"/>
              </a:rPr>
              <a:t>•  Transcript PDFs are parsed in memory and discarded; only the parsed JSON is stored.</a:t>
            </a:r>
          </a:p>
        </p:txBody>
      </p:sp>
      <p:sp>
        <p:nvSpPr>
          <p:cNvPr id="17" name="TextBox 16"/>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9 / 10</a:t>
            </a:r>
          </a:p>
        </p:txBody>
      </p:sp>
      <p:sp>
        <p:nvSpPr>
          <p:cNvPr id="18" name="TextBox 17"/>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pic>
        <p:nvPicPr>
          <p:cNvPr id="22" name="Picture 21">
            <a:extLst>
              <a:ext uri="{FF2B5EF4-FFF2-40B4-BE49-F238E27FC236}">
                <a16:creationId xmlns:a16="http://schemas.microsoft.com/office/drawing/2014/main" id="{5396CA05-EE87-9663-8402-FBA9FE15EC32}"/>
              </a:ext>
            </a:extLst>
          </p:cNvPr>
          <p:cNvPicPr>
            <a:picLocks noChangeAspect="1"/>
          </p:cNvPicPr>
          <p:nvPr/>
        </p:nvPicPr>
        <p:blipFill>
          <a:blip r:embed="rId3"/>
          <a:srcRect t="24798"/>
          <a:stretch>
            <a:fillRect/>
          </a:stretch>
        </p:blipFill>
        <p:spPr>
          <a:xfrm>
            <a:off x="6629400" y="2286000"/>
            <a:ext cx="4937761" cy="23754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10972800" cy="292608"/>
          </a:xfrm>
          <a:prstGeom prst="rect">
            <a:avLst/>
          </a:prstGeom>
          <a:noFill/>
        </p:spPr>
        <p:txBody>
          <a:bodyPr wrap="square" lIns="45720" tIns="0" rIns="45720" bIns="0" anchor="t">
            <a:spAutoFit/>
          </a:bodyPr>
          <a:lstStyle/>
          <a:p>
            <a:pPr algn="l"/>
            <a:r>
              <a:rPr sz="1100" b="1" i="0">
                <a:solidFill>
                  <a:srgbClr val="E8562A"/>
                </a:solidFill>
                <a:latin typeface="Segoe UI"/>
              </a:rPr>
              <a:t>WRAP</a:t>
            </a:r>
          </a:p>
        </p:txBody>
      </p:sp>
      <p:sp>
        <p:nvSpPr>
          <p:cNvPr id="3" name="TextBox 2"/>
          <p:cNvSpPr txBox="1"/>
          <p:nvPr/>
        </p:nvSpPr>
        <p:spPr>
          <a:xfrm>
            <a:off x="548640" y="502920"/>
            <a:ext cx="10972800" cy="640080"/>
          </a:xfrm>
          <a:prstGeom prst="rect">
            <a:avLst/>
          </a:prstGeom>
          <a:noFill/>
        </p:spPr>
        <p:txBody>
          <a:bodyPr wrap="square" lIns="45720" tIns="0" rIns="45720" bIns="0" anchor="t">
            <a:spAutoFit/>
          </a:bodyPr>
          <a:lstStyle/>
          <a:p>
            <a:pPr algn="l"/>
            <a:r>
              <a:rPr sz="3000" b="1" i="0">
                <a:solidFill>
                  <a:srgbClr val="0A1628"/>
                </a:solidFill>
                <a:latin typeface="Segoe UI"/>
              </a:rPr>
              <a:t>Wins, limits, what's next</a:t>
            </a:r>
          </a:p>
        </p:txBody>
      </p:sp>
      <p:sp>
        <p:nvSpPr>
          <p:cNvPr id="4" name="Rectangle 3"/>
          <p:cNvSpPr/>
          <p:nvPr/>
        </p:nvSpPr>
        <p:spPr>
          <a:xfrm>
            <a:off x="548640" y="1097280"/>
            <a:ext cx="1463040" cy="64008"/>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417320"/>
            <a:ext cx="3545738" cy="4023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417320"/>
            <a:ext cx="3545738" cy="73152"/>
          </a:xfrm>
          <a:prstGeom prst="rect">
            <a:avLst/>
          </a:prstGeom>
          <a:solidFill>
            <a:srgbClr val="38A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645920"/>
            <a:ext cx="3545738" cy="365760"/>
          </a:xfrm>
          <a:prstGeom prst="rect">
            <a:avLst/>
          </a:prstGeom>
          <a:noFill/>
        </p:spPr>
        <p:txBody>
          <a:bodyPr wrap="square" lIns="45720" tIns="0" rIns="45720" bIns="0" anchor="t">
            <a:spAutoFit/>
          </a:bodyPr>
          <a:lstStyle/>
          <a:p>
            <a:pPr algn="l"/>
            <a:r>
              <a:rPr sz="1600" b="1" i="0">
                <a:solidFill>
                  <a:srgbClr val="0A1628"/>
                </a:solidFill>
                <a:latin typeface="Segoe UI"/>
              </a:rPr>
              <a:t>What worked</a:t>
            </a:r>
          </a:p>
        </p:txBody>
      </p:sp>
      <p:sp>
        <p:nvSpPr>
          <p:cNvPr id="8" name="TextBox 7"/>
          <p:cNvSpPr txBox="1"/>
          <p:nvPr/>
        </p:nvSpPr>
        <p:spPr>
          <a:xfrm>
            <a:off x="777240" y="2103120"/>
            <a:ext cx="3088538" cy="3200400"/>
          </a:xfrm>
          <a:prstGeom prst="rect">
            <a:avLst/>
          </a:prstGeom>
          <a:noFill/>
        </p:spPr>
        <p:txBody>
          <a:bodyPr wrap="square" lIns="45720" tIns="0" rIns="45720" bIns="0">
            <a:spAutoFit/>
          </a:bodyPr>
          <a:lstStyle/>
          <a:p>
            <a:pPr>
              <a:lnSpc>
                <a:spcPct val="120000"/>
              </a:lnSpc>
              <a:spcAft>
                <a:spcPts val="800"/>
              </a:spcAft>
            </a:pPr>
            <a:r>
              <a:rPr sz="1200" b="0" i="0">
                <a:solidFill>
                  <a:srgbClr val="2C3E52"/>
                </a:solidFill>
                <a:latin typeface="Segoe UI"/>
              </a:rPr>
              <a:t>•  One SQLite file = trivial backups, easy grading.</a:t>
            </a:r>
          </a:p>
          <a:p>
            <a:pPr>
              <a:lnSpc>
                <a:spcPct val="120000"/>
              </a:lnSpc>
              <a:spcAft>
                <a:spcPts val="800"/>
              </a:spcAft>
            </a:pPr>
            <a:r>
              <a:rPr sz="1200" b="0" i="0">
                <a:solidFill>
                  <a:srgbClr val="2C3E52"/>
                </a:solidFill>
                <a:latin typeface="Segoe UI"/>
              </a:rPr>
              <a:t>•  No JS framework — frontend stayed readable.</a:t>
            </a:r>
          </a:p>
          <a:p>
            <a:pPr>
              <a:lnSpc>
                <a:spcPct val="120000"/>
              </a:lnSpc>
              <a:spcAft>
                <a:spcPts val="800"/>
              </a:spcAft>
            </a:pPr>
            <a:r>
              <a:rPr sz="1200" b="0" i="0">
                <a:solidFill>
                  <a:srgbClr val="2C3E52"/>
                </a:solidFill>
                <a:latin typeface="Segoe UI"/>
              </a:rPr>
              <a:t>•  Stdlib scrapers survived a registrar redesign mid-semester.</a:t>
            </a:r>
          </a:p>
          <a:p>
            <a:pPr>
              <a:lnSpc>
                <a:spcPct val="120000"/>
              </a:lnSpc>
              <a:spcAft>
                <a:spcPts val="800"/>
              </a:spcAft>
            </a:pPr>
            <a:r>
              <a:rPr sz="1200" b="0" i="0">
                <a:solidFill>
                  <a:srgbClr val="2C3E52"/>
                </a:solidFill>
                <a:latin typeface="Segoe UI"/>
              </a:rPr>
              <a:t>•  Conflict detection respects 8-week sessions.</a:t>
            </a:r>
          </a:p>
        </p:txBody>
      </p:sp>
      <p:sp>
        <p:nvSpPr>
          <p:cNvPr id="9" name="Rectangle 8"/>
          <p:cNvSpPr/>
          <p:nvPr/>
        </p:nvSpPr>
        <p:spPr>
          <a:xfrm>
            <a:off x="4322978" y="1417320"/>
            <a:ext cx="3545738" cy="4023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22978" y="1417320"/>
            <a:ext cx="3545738" cy="73152"/>
          </a:xfrm>
          <a:prstGeom prst="rect">
            <a:avLst/>
          </a:prstGeom>
          <a:solidFill>
            <a:srgbClr val="E53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1578" y="1645920"/>
            <a:ext cx="3545738" cy="365760"/>
          </a:xfrm>
          <a:prstGeom prst="rect">
            <a:avLst/>
          </a:prstGeom>
          <a:noFill/>
        </p:spPr>
        <p:txBody>
          <a:bodyPr wrap="square" lIns="45720" tIns="0" rIns="45720" bIns="0" anchor="t">
            <a:spAutoFit/>
          </a:bodyPr>
          <a:lstStyle/>
          <a:p>
            <a:pPr algn="l"/>
            <a:r>
              <a:rPr sz="1600" b="1" i="0">
                <a:solidFill>
                  <a:srgbClr val="0A1628"/>
                </a:solidFill>
                <a:latin typeface="Segoe UI"/>
              </a:rPr>
              <a:t>Limits</a:t>
            </a:r>
          </a:p>
        </p:txBody>
      </p:sp>
      <p:sp>
        <p:nvSpPr>
          <p:cNvPr id="12" name="TextBox 11"/>
          <p:cNvSpPr txBox="1"/>
          <p:nvPr/>
        </p:nvSpPr>
        <p:spPr>
          <a:xfrm>
            <a:off x="4551578" y="2103120"/>
            <a:ext cx="3088538" cy="3200400"/>
          </a:xfrm>
          <a:prstGeom prst="rect">
            <a:avLst/>
          </a:prstGeom>
          <a:noFill/>
        </p:spPr>
        <p:txBody>
          <a:bodyPr wrap="square" lIns="45720" tIns="0" rIns="45720" bIns="0">
            <a:spAutoFit/>
          </a:bodyPr>
          <a:lstStyle/>
          <a:p>
            <a:pPr>
              <a:lnSpc>
                <a:spcPct val="120000"/>
              </a:lnSpc>
              <a:spcAft>
                <a:spcPts val="800"/>
              </a:spcAft>
            </a:pPr>
            <a:r>
              <a:rPr sz="1200" b="0" i="0">
                <a:solidFill>
                  <a:srgbClr val="2C3E52"/>
                </a:solidFill>
                <a:latin typeface="Segoe UI"/>
              </a:rPr>
              <a:t>•  Scrapers are HTML-shape sensitive; selectors break on redesigns.</a:t>
            </a:r>
          </a:p>
          <a:p>
            <a:pPr>
              <a:lnSpc>
                <a:spcPct val="120000"/>
              </a:lnSpc>
              <a:spcAft>
                <a:spcPts val="800"/>
              </a:spcAft>
            </a:pPr>
            <a:r>
              <a:rPr sz="1200" b="0" i="0">
                <a:solidFill>
                  <a:srgbClr val="2C3E52"/>
                </a:solidFill>
                <a:latin typeface="Segoe UI"/>
              </a:rPr>
              <a:t>•  Prereq parser only handles 'SUBJ ####' patterns — free text is treated as unparseable.</a:t>
            </a:r>
          </a:p>
          <a:p>
            <a:pPr>
              <a:lnSpc>
                <a:spcPct val="120000"/>
              </a:lnSpc>
              <a:spcAft>
                <a:spcPts val="800"/>
              </a:spcAft>
            </a:pPr>
            <a:r>
              <a:rPr sz="1200" b="0" i="0">
                <a:solidFill>
                  <a:srgbClr val="2C3E52"/>
                </a:solidFill>
                <a:latin typeface="Segoe UI"/>
              </a:rPr>
              <a:t>•  No mobile layout pass yet.</a:t>
            </a:r>
          </a:p>
          <a:p>
            <a:pPr>
              <a:lnSpc>
                <a:spcPct val="120000"/>
              </a:lnSpc>
              <a:spcAft>
                <a:spcPts val="800"/>
              </a:spcAft>
            </a:pPr>
            <a:r>
              <a:rPr sz="1200" b="0" i="0">
                <a:solidFill>
                  <a:srgbClr val="2C3E52"/>
                </a:solidFill>
                <a:latin typeface="Segoe UI"/>
              </a:rPr>
              <a:t>•  AI advisor uses a single prompt template — no chat memory.</a:t>
            </a:r>
          </a:p>
        </p:txBody>
      </p:sp>
      <p:sp>
        <p:nvSpPr>
          <p:cNvPr id="13" name="Rectangle 12"/>
          <p:cNvSpPr/>
          <p:nvPr/>
        </p:nvSpPr>
        <p:spPr>
          <a:xfrm>
            <a:off x="8097316" y="1417320"/>
            <a:ext cx="3545738" cy="40233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7316" y="1417320"/>
            <a:ext cx="3545738" cy="73152"/>
          </a:xfrm>
          <a:prstGeom prst="rect">
            <a:avLst/>
          </a:prstGeom>
          <a:solidFill>
            <a:srgbClr val="E85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5916" y="1645920"/>
            <a:ext cx="3545738" cy="365760"/>
          </a:xfrm>
          <a:prstGeom prst="rect">
            <a:avLst/>
          </a:prstGeom>
          <a:noFill/>
        </p:spPr>
        <p:txBody>
          <a:bodyPr wrap="square" lIns="45720" tIns="0" rIns="45720" bIns="0" anchor="t">
            <a:spAutoFit/>
          </a:bodyPr>
          <a:lstStyle/>
          <a:p>
            <a:pPr algn="l"/>
            <a:r>
              <a:rPr sz="1600" b="1" i="0">
                <a:solidFill>
                  <a:srgbClr val="0A1628"/>
                </a:solidFill>
                <a:latin typeface="Segoe UI"/>
              </a:rPr>
              <a:t>Next</a:t>
            </a:r>
          </a:p>
        </p:txBody>
      </p:sp>
      <p:sp>
        <p:nvSpPr>
          <p:cNvPr id="16" name="TextBox 15"/>
          <p:cNvSpPr txBox="1"/>
          <p:nvPr/>
        </p:nvSpPr>
        <p:spPr>
          <a:xfrm>
            <a:off x="8325916" y="2103120"/>
            <a:ext cx="3088538" cy="3200400"/>
          </a:xfrm>
          <a:prstGeom prst="rect">
            <a:avLst/>
          </a:prstGeom>
          <a:noFill/>
        </p:spPr>
        <p:txBody>
          <a:bodyPr wrap="square" lIns="45720" tIns="0" rIns="45720" bIns="0">
            <a:spAutoFit/>
          </a:bodyPr>
          <a:lstStyle/>
          <a:p>
            <a:pPr>
              <a:lnSpc>
                <a:spcPct val="120000"/>
              </a:lnSpc>
              <a:spcAft>
                <a:spcPts val="800"/>
              </a:spcAft>
            </a:pPr>
            <a:r>
              <a:rPr sz="1200" b="0" i="0">
                <a:solidFill>
                  <a:srgbClr val="2C3E52"/>
                </a:solidFill>
                <a:latin typeface="Segoe UI"/>
              </a:rPr>
              <a:t>•  Switch scrapers to a small HTML-tolerant parser layer.</a:t>
            </a:r>
          </a:p>
          <a:p>
            <a:pPr>
              <a:lnSpc>
                <a:spcPct val="120000"/>
              </a:lnSpc>
              <a:spcAft>
                <a:spcPts val="800"/>
              </a:spcAft>
            </a:pPr>
            <a:r>
              <a:rPr sz="1200" b="0" i="0">
                <a:solidFill>
                  <a:srgbClr val="2C3E52"/>
                </a:solidFill>
                <a:latin typeface="Segoe UI"/>
              </a:rPr>
              <a:t>•  Add iCal subscription URL, not just .ics export.</a:t>
            </a:r>
          </a:p>
          <a:p>
            <a:pPr>
              <a:lnSpc>
                <a:spcPct val="120000"/>
              </a:lnSpc>
              <a:spcAft>
                <a:spcPts val="800"/>
              </a:spcAft>
            </a:pPr>
            <a:r>
              <a:rPr sz="1200" b="0" i="0">
                <a:solidFill>
                  <a:srgbClr val="2C3E52"/>
                </a:solidFill>
                <a:latin typeface="Segoe UI"/>
              </a:rPr>
              <a:t>•  Cache program requirements per program version.</a:t>
            </a:r>
          </a:p>
          <a:p>
            <a:pPr>
              <a:lnSpc>
                <a:spcPct val="120000"/>
              </a:lnSpc>
              <a:spcAft>
                <a:spcPts val="800"/>
              </a:spcAft>
            </a:pPr>
            <a:r>
              <a:rPr sz="1200" b="0" i="0">
                <a:solidFill>
                  <a:srgbClr val="2C3E52"/>
                </a:solidFill>
                <a:latin typeface="Segoe UI"/>
              </a:rPr>
              <a:t>•  Mobile-first restyle of Schedule and Planner.</a:t>
            </a:r>
          </a:p>
        </p:txBody>
      </p:sp>
      <p:sp>
        <p:nvSpPr>
          <p:cNvPr id="17" name="Rectangle 16"/>
          <p:cNvSpPr/>
          <p:nvPr/>
        </p:nvSpPr>
        <p:spPr>
          <a:xfrm>
            <a:off x="548640" y="5623560"/>
            <a:ext cx="11091672" cy="64008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733288"/>
            <a:ext cx="6400800" cy="457200"/>
          </a:xfrm>
          <a:prstGeom prst="rect">
            <a:avLst/>
          </a:prstGeom>
          <a:noFill/>
        </p:spPr>
        <p:txBody>
          <a:bodyPr wrap="square" lIns="45720" tIns="0" rIns="45720" bIns="0" anchor="t">
            <a:spAutoFit/>
          </a:bodyPr>
          <a:lstStyle/>
          <a:p>
            <a:pPr algn="l"/>
            <a:r>
              <a:rPr sz="2000" b="1" i="0">
                <a:solidFill>
                  <a:srgbClr val="E2E8F0"/>
                </a:solidFill>
                <a:latin typeface="Segoe UI"/>
              </a:rPr>
              <a:t>Thanks — questions?</a:t>
            </a:r>
          </a:p>
        </p:txBody>
      </p:sp>
      <p:sp>
        <p:nvSpPr>
          <p:cNvPr id="19" name="TextBox 18"/>
          <p:cNvSpPr txBox="1"/>
          <p:nvPr/>
        </p:nvSpPr>
        <p:spPr>
          <a:xfrm>
            <a:off x="6858000" y="5824728"/>
            <a:ext cx="4754880" cy="365760"/>
          </a:xfrm>
          <a:prstGeom prst="rect">
            <a:avLst/>
          </a:prstGeom>
          <a:noFill/>
        </p:spPr>
        <p:txBody>
          <a:bodyPr wrap="square" lIns="45720" tIns="0" rIns="45720" bIns="0" anchor="t">
            <a:spAutoFit/>
          </a:bodyPr>
          <a:lstStyle/>
          <a:p>
            <a:pPr algn="r"/>
            <a:r>
              <a:rPr sz="1400" b="0" i="0">
                <a:solidFill>
                  <a:srgbClr val="E8562A"/>
                </a:solidFill>
                <a:latin typeface="Consolas"/>
              </a:rPr>
              <a:t>github.com/&lt;you&gt;/utpb-scheduler</a:t>
            </a:r>
          </a:p>
        </p:txBody>
      </p:sp>
      <p:sp>
        <p:nvSpPr>
          <p:cNvPr id="20" name="TextBox 19"/>
          <p:cNvSpPr txBox="1"/>
          <p:nvPr/>
        </p:nvSpPr>
        <p:spPr>
          <a:xfrm>
            <a:off x="11430000" y="6446520"/>
            <a:ext cx="640080" cy="274320"/>
          </a:xfrm>
          <a:prstGeom prst="rect">
            <a:avLst/>
          </a:prstGeom>
          <a:noFill/>
        </p:spPr>
        <p:txBody>
          <a:bodyPr wrap="square" lIns="45720" tIns="0" rIns="45720" bIns="0" anchor="t">
            <a:spAutoFit/>
          </a:bodyPr>
          <a:lstStyle/>
          <a:p>
            <a:pPr algn="r"/>
            <a:r>
              <a:rPr sz="1000" b="0" i="0">
                <a:solidFill>
                  <a:srgbClr val="8899AA"/>
                </a:solidFill>
                <a:latin typeface="Segoe UI"/>
              </a:rPr>
              <a:t>10 / 10</a:t>
            </a:r>
          </a:p>
        </p:txBody>
      </p:sp>
      <p:sp>
        <p:nvSpPr>
          <p:cNvPr id="21" name="TextBox 20"/>
          <p:cNvSpPr txBox="1"/>
          <p:nvPr/>
        </p:nvSpPr>
        <p:spPr>
          <a:xfrm>
            <a:off x="548640" y="6446520"/>
            <a:ext cx="7315200" cy="274320"/>
          </a:xfrm>
          <a:prstGeom prst="rect">
            <a:avLst/>
          </a:prstGeom>
          <a:noFill/>
        </p:spPr>
        <p:txBody>
          <a:bodyPr wrap="square" lIns="45720" tIns="0" rIns="45720" bIns="0" anchor="t">
            <a:spAutoFit/>
          </a:bodyPr>
          <a:lstStyle/>
          <a:p>
            <a:pPr algn="l"/>
            <a:r>
              <a:rPr sz="1000" b="0" i="0">
                <a:solidFill>
                  <a:srgbClr val="8899AA"/>
                </a:solidFill>
                <a:latin typeface="Segoe UI"/>
              </a:rPr>
              <a:t>UTPB Course Scraper &amp; Scheduler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1902</Words>
  <Application>Microsoft Office PowerPoint</Application>
  <PresentationFormat>Widescreen</PresentationFormat>
  <Paragraphs>267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Kunga Gurung</cp:lastModifiedBy>
  <cp:revision>3</cp:revision>
  <dcterms:created xsi:type="dcterms:W3CDTF">2013-01-27T09:14:16Z</dcterms:created>
  <dcterms:modified xsi:type="dcterms:W3CDTF">2026-04-28T18:05:38Z</dcterms:modified>
  <cp:category/>
</cp:coreProperties>
</file>